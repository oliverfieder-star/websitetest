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hyperlink" Target="https://calendly.com/oliver2004-fieder/30mi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2"/>
        </a:solidFill>
        <a:effectLst/>
      </p:bgPr>
    </p:bg>
    <p:spTree>
      <p:nvGrpSpPr>
        <p:cNvPr id="1" name=""/>
        <p:cNvGrpSpPr/>
        <p:nvPr/>
      </p:nvGrpSpPr>
      <p:grpSpPr/>
      <p:pic>
        <p:nvPicPr>
          <p:cNvPr id="2" name="Picture 1" descr="k4-buero-nacht.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D0F12">
              <a:alpha val="68000"/>
            </a:srgbClr>
          </a:solidFill>
          <a:ln>
            <a:noFill/>
          </a:ln>
          <a:effectLst/>
        </p:spPr>
        <p:txBody>
          <a:bodyPr rtlCol="0" anchor="ctr"/>
          <a:lstStyle/>
          <a:p>
            <a:pPr algn="ctr"/>
          </a:p>
        </p:txBody>
      </p:sp>
      <p:sp>
        <p:nvSpPr>
          <p:cNvPr id="4" name="TextBox 3"/>
          <p:cNvSpPr txBox="1"/>
          <p:nvPr/>
        </p:nvSpPr>
        <p:spPr>
          <a:xfrm>
            <a:off x="758952" y="502920"/>
            <a:ext cx="7315200" cy="365760"/>
          </a:xfrm>
          <a:prstGeom prst="rect">
            <a:avLst/>
          </a:prstGeom>
          <a:noFill/>
        </p:spPr>
        <p:txBody>
          <a:bodyPr wrap="square" anchor="t" lIns="0" rIns="0" tIns="0" bIns="0">
            <a:spAutoFit/>
          </a:bodyPr>
          <a:lstStyle/>
          <a:p>
            <a:pPr algn="l"/>
            <a:r>
              <a:rPr sz="1500" b="1" spc="150">
                <a:solidFill>
                  <a:srgbClr val="E9E7E2"/>
                </a:solidFill>
                <a:latin typeface="Space Grotesk"/>
              </a:rPr>
              <a:t>MAINFRANKEN </a:t>
            </a:r>
            <a:r>
              <a:rPr sz="1500" b="1" spc="150">
                <a:solidFill>
                  <a:srgbClr val="8FA9BD"/>
                </a:solidFill>
                <a:latin typeface="Space Grotesk"/>
              </a:rPr>
              <a:t>DIGITAL</a:t>
            </a:r>
          </a:p>
        </p:txBody>
      </p:sp>
      <p:sp>
        <p:nvSpPr>
          <p:cNvPr id="5" name="TextBox 4"/>
          <p:cNvSpPr txBox="1"/>
          <p:nvPr/>
        </p:nvSpPr>
        <p:spPr>
          <a:xfrm>
            <a:off x="758952" y="2240280"/>
            <a:ext cx="5486400" cy="320040"/>
          </a:xfrm>
          <a:prstGeom prst="rect">
            <a:avLst/>
          </a:prstGeom>
          <a:noFill/>
        </p:spPr>
        <p:txBody>
          <a:bodyPr wrap="square" anchor="t" lIns="0" rIns="0" tIns="0" bIns="0">
            <a:spAutoFit/>
          </a:bodyPr>
          <a:lstStyle/>
          <a:p>
            <a:pPr algn="l"/>
            <a:r>
              <a:rPr sz="1100" b="0" spc="260">
                <a:solidFill>
                  <a:srgbClr val="8FA9BD"/>
                </a:solidFill>
                <a:latin typeface="Consolas"/>
              </a:rPr>
              <a:t>LEISTUNGSÜBERSICHT</a:t>
            </a:r>
          </a:p>
        </p:txBody>
      </p:sp>
      <p:sp>
        <p:nvSpPr>
          <p:cNvPr id="6" name="TextBox 5"/>
          <p:cNvSpPr txBox="1"/>
          <p:nvPr/>
        </p:nvSpPr>
        <p:spPr>
          <a:xfrm>
            <a:off x="758952" y="2651760"/>
            <a:ext cx="10673791" cy="1463040"/>
          </a:xfrm>
          <a:prstGeom prst="rect">
            <a:avLst/>
          </a:prstGeom>
          <a:noFill/>
        </p:spPr>
        <p:txBody>
          <a:bodyPr wrap="square" anchor="t" lIns="0" rIns="0" tIns="0" bIns="0">
            <a:spAutoFit/>
          </a:bodyPr>
          <a:lstStyle/>
          <a:p>
            <a:pPr algn="l">
              <a:lnSpc>
                <a:spcPct val="102000"/>
              </a:lnSpc>
            </a:pPr>
            <a:r>
              <a:rPr sz="4000" b="1">
                <a:solidFill>
                  <a:srgbClr val="E9E7E2"/>
                </a:solidFill>
                <a:latin typeface="Space Grotesk"/>
              </a:rPr>
              <a:t>KI UND DIGITALISIERUNG FÜR
</a:t>
            </a:r>
            <a:r>
              <a:rPr sz="4000" b="1">
                <a:solidFill>
                  <a:srgbClr val="8FA9BD"/>
                </a:solidFill>
                <a:latin typeface="Space Grotesk"/>
              </a:rPr>
              <a:t>IHREN HANDWERKSBETRIEB</a:t>
            </a:r>
            <a:r>
              <a:rPr sz="4000" b="1">
                <a:solidFill>
                  <a:srgbClr val="E9E7E2"/>
                </a:solidFill>
                <a:latin typeface="Space Grotesk"/>
              </a:rPr>
              <a:t>.</a:t>
            </a:r>
          </a:p>
        </p:txBody>
      </p:sp>
      <p:sp>
        <p:nvSpPr>
          <p:cNvPr id="7" name="TextBox 6"/>
          <p:cNvSpPr txBox="1"/>
          <p:nvPr/>
        </p:nvSpPr>
        <p:spPr>
          <a:xfrm>
            <a:off x="758952" y="4206240"/>
            <a:ext cx="7498079" cy="1097280"/>
          </a:xfrm>
          <a:prstGeom prst="rect">
            <a:avLst/>
          </a:prstGeom>
          <a:noFill/>
        </p:spPr>
        <p:txBody>
          <a:bodyPr wrap="square" anchor="t" lIns="0" rIns="0" tIns="0" bIns="0">
            <a:spAutoFit/>
          </a:bodyPr>
          <a:lstStyle/>
          <a:p>
            <a:pPr algn="l">
              <a:lnSpc>
                <a:spcPct val="125000"/>
              </a:lnSpc>
              <a:spcBef>
                <a:spcPts val="0"/>
              </a:spcBef>
            </a:pPr>
            <a:r>
              <a:rPr sz="1400" b="0">
                <a:solidFill>
                  <a:srgbClr val="A8AEB6"/>
                </a:solidFill>
                <a:latin typeface="Space Grotesk"/>
              </a:rPr>
              <a:t>Weniger Zeit für Büro und Verwaltung. Von der ersten Analyse bis zur fertigen Umsetzung, mit bis zu 50 % Förderung.</a:t>
            </a:r>
          </a:p>
        </p:txBody>
      </p:sp>
      <p:sp>
        <p:nvSpPr>
          <p:cNvPr id="8" name="TextBox 7"/>
          <p:cNvSpPr txBox="1"/>
          <p:nvPr/>
        </p:nvSpPr>
        <p:spPr>
          <a:xfrm>
            <a:off x="758952" y="5989320"/>
            <a:ext cx="10058400" cy="365760"/>
          </a:xfrm>
          <a:prstGeom prst="rect">
            <a:avLst/>
          </a:prstGeom>
          <a:noFill/>
        </p:spPr>
        <p:txBody>
          <a:bodyPr wrap="square" anchor="t" lIns="0" rIns="0" tIns="0" bIns="0">
            <a:spAutoFit/>
          </a:bodyPr>
          <a:lstStyle/>
          <a:p>
            <a:pPr algn="l"/>
            <a:r>
              <a:rPr sz="1000" b="0" spc="200">
                <a:solidFill>
                  <a:srgbClr val="9AA0A8"/>
                </a:solidFill>
                <a:latin typeface="Consolas"/>
              </a:rPr>
              <a:t>[TT.MM.JJJJ]  ·  UNVERBINDLICHE ÜBERSICHT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3F0"/>
        </a:solidFill>
        <a:effectLst/>
      </p:bgPr>
    </p:bg>
    <p:spTree>
      <p:nvGrpSpPr>
        <p:cNvPr id="1" name=""/>
        <p:cNvGrpSpPr/>
        <p:nvPr/>
      </p:nvGrpSpPr>
      <p:grpSpPr/>
      <p:cxnSp>
        <p:nvCxnSpPr>
          <p:cNvPr id="2" name="Connector 1"/>
          <p:cNvCxnSpPr/>
          <p:nvPr/>
        </p:nvCxnSpPr>
        <p:spPr>
          <a:xfrm>
            <a:off x="758952" y="672084"/>
            <a:ext cx="0" cy="100584"/>
          </a:xfrm>
          <a:prstGeom prst="line">
            <a:avLst/>
          </a:prstGeom>
          <a:ln w="12700">
            <a:solidFill>
              <a:srgbClr val="D9D7D2"/>
            </a:solidFill>
          </a:ln>
          <a:effectLst/>
        </p:spPr>
      </p:cxnSp>
      <p:cxnSp>
        <p:nvCxnSpPr>
          <p:cNvPr id="3" name="Connector 2"/>
          <p:cNvCxnSpPr/>
          <p:nvPr/>
        </p:nvCxnSpPr>
        <p:spPr>
          <a:xfrm>
            <a:off x="11432743" y="672084"/>
            <a:ext cx="0" cy="100584"/>
          </a:xfrm>
          <a:prstGeom prst="line">
            <a:avLst/>
          </a:prstGeom>
          <a:ln w="12700">
            <a:solidFill>
              <a:srgbClr val="D9D7D2"/>
            </a:solidFill>
          </a:ln>
          <a:effectLst/>
        </p:spPr>
      </p:cxnSp>
      <p:cxnSp>
        <p:nvCxnSpPr>
          <p:cNvPr id="4" name="Connector 3"/>
          <p:cNvCxnSpPr/>
          <p:nvPr/>
        </p:nvCxnSpPr>
        <p:spPr>
          <a:xfrm>
            <a:off x="758952" y="722376"/>
            <a:ext cx="4349343.5" cy="0"/>
          </a:xfrm>
          <a:prstGeom prst="line">
            <a:avLst/>
          </a:prstGeom>
          <a:ln w="12700">
            <a:solidFill>
              <a:srgbClr val="D9D7D2"/>
            </a:solidFill>
          </a:ln>
          <a:effectLst/>
        </p:spPr>
      </p:cxnSp>
      <p:cxnSp>
        <p:nvCxnSpPr>
          <p:cNvPr id="5" name="Connector 4"/>
          <p:cNvCxnSpPr/>
          <p:nvPr/>
        </p:nvCxnSpPr>
        <p:spPr>
          <a:xfrm>
            <a:off x="7083399.5" y="722376"/>
            <a:ext cx="4349343.5" cy="0"/>
          </a:xfrm>
          <a:prstGeom prst="line">
            <a:avLst/>
          </a:prstGeom>
          <a:ln w="12700">
            <a:solidFill>
              <a:srgbClr val="D9D7D2"/>
            </a:solidFill>
          </a:ln>
          <a:effectLst/>
        </p:spPr>
      </p:cxnSp>
      <p:sp>
        <p:nvSpPr>
          <p:cNvPr id="6" name="TextBox 5"/>
          <p:cNvSpPr txBox="1"/>
          <p:nvPr/>
        </p:nvSpPr>
        <p:spPr>
          <a:xfrm>
            <a:off x="5108295" y="621792"/>
            <a:ext cx="1975104" cy="274320"/>
          </a:xfrm>
          <a:prstGeom prst="rect">
            <a:avLst/>
          </a:prstGeom>
          <a:noFill/>
        </p:spPr>
        <p:txBody>
          <a:bodyPr wrap="square" anchor="t" lIns="0" rIns="0" tIns="0" bIns="0">
            <a:spAutoFit/>
          </a:bodyPr>
          <a:lstStyle/>
          <a:p>
            <a:pPr algn="ctr"/>
            <a:r>
              <a:rPr sz="1000" b="0" spc="300">
                <a:solidFill>
                  <a:srgbClr val="4F6E88"/>
                </a:solidFill>
                <a:latin typeface="Consolas"/>
              </a:rPr>
              <a:t>WER WIR SIND</a:t>
            </a:r>
          </a:p>
        </p:txBody>
      </p:sp>
      <p:sp>
        <p:nvSpPr>
          <p:cNvPr id="7" name="TextBox 6"/>
          <p:cNvSpPr txBox="1"/>
          <p:nvPr/>
        </p:nvSpPr>
        <p:spPr>
          <a:xfrm>
            <a:off x="758952" y="1280160"/>
            <a:ext cx="10673791" cy="1463040"/>
          </a:xfrm>
          <a:prstGeom prst="rect">
            <a:avLst/>
          </a:prstGeom>
          <a:noFill/>
        </p:spPr>
        <p:txBody>
          <a:bodyPr wrap="square" anchor="t" lIns="0" rIns="0" tIns="0" bIns="0">
            <a:spAutoFit/>
          </a:bodyPr>
          <a:lstStyle/>
          <a:p>
            <a:pPr algn="l">
              <a:lnSpc>
                <a:spcPct val="102000"/>
              </a:lnSpc>
            </a:pPr>
            <a:r>
              <a:rPr sz="3000" b="1">
                <a:solidFill>
                  <a:srgbClr val="14171C"/>
                </a:solidFill>
                <a:latin typeface="Space Grotesk"/>
              </a:rPr>
              <a:t>BERATUNG, DIE AUCH </a:t>
            </a:r>
            <a:r>
              <a:rPr sz="3000" b="1">
                <a:solidFill>
                  <a:srgbClr val="4F6E88"/>
                </a:solidFill>
                <a:latin typeface="Space Grotesk"/>
              </a:rPr>
              <a:t>UMSETZT</a:t>
            </a:r>
            <a:r>
              <a:rPr sz="3000" b="1">
                <a:solidFill>
                  <a:srgbClr val="14171C"/>
                </a:solidFill>
                <a:latin typeface="Space Grotesk"/>
              </a:rPr>
              <a:t>.</a:t>
            </a:r>
          </a:p>
        </p:txBody>
      </p:sp>
      <p:pic>
        <p:nvPicPr>
          <p:cNvPr id="8" name="Picture 7" descr="oliver-portraet.jpg"/>
          <p:cNvPicPr>
            <a:picLocks noChangeAspect="1"/>
          </p:cNvPicPr>
          <p:nvPr/>
        </p:nvPicPr>
        <p:blipFill>
          <a:blip r:embed="rId2"/>
          <a:stretch>
            <a:fillRect/>
          </a:stretch>
        </p:blipFill>
        <p:spPr>
          <a:xfrm>
            <a:off x="758952" y="2377440"/>
            <a:ext cx="1371600" cy="1371600"/>
          </a:xfrm>
          <a:prstGeom prst="ellipse">
            <a:avLst/>
          </a:prstGeom>
          <a:ln w="19050">
            <a:solidFill>
              <a:srgbClr val="4F6E88"/>
            </a:solidFill>
          </a:ln>
        </p:spPr>
      </p:pic>
      <p:sp>
        <p:nvSpPr>
          <p:cNvPr id="9" name="TextBox 8"/>
          <p:cNvSpPr txBox="1"/>
          <p:nvPr/>
        </p:nvSpPr>
        <p:spPr>
          <a:xfrm>
            <a:off x="2542032" y="2404872"/>
            <a:ext cx="4206240" cy="1463040"/>
          </a:xfrm>
          <a:prstGeom prst="rect">
            <a:avLst/>
          </a:prstGeom>
          <a:noFill/>
        </p:spPr>
        <p:txBody>
          <a:bodyPr wrap="square" anchor="t" lIns="0" rIns="0" tIns="0" bIns="0">
            <a:spAutoFit/>
          </a:bodyPr>
          <a:lstStyle/>
          <a:p>
            <a:pPr algn="l"/>
            <a:r>
              <a:rPr sz="1600" b="1">
                <a:solidFill>
                  <a:srgbClr val="14171C"/>
                </a:solidFill>
                <a:latin typeface="Space Grotesk"/>
              </a:rPr>
              <a:t>Oliver Fieder</a:t>
            </a:r>
          </a:p>
          <a:p>
            <a:pPr algn="l">
              <a:spcBef>
                <a:spcPts val="200"/>
              </a:spcBef>
            </a:pPr>
            <a:r>
              <a:rPr sz="1100" b="0">
                <a:solidFill>
                  <a:srgbClr val="7A8088"/>
                </a:solidFill>
                <a:latin typeface="Space Grotesk"/>
              </a:rPr>
              <a:t>Gründer und Berater, Mainfranken Digital</a:t>
            </a:r>
          </a:p>
          <a:p>
            <a:pPr algn="l">
              <a:spcBef>
                <a:spcPts val="600"/>
              </a:spcBef>
            </a:pPr>
            <a:r>
              <a:rPr sz="1100" b="0">
                <a:solidFill>
                  <a:srgbClr val="4A5058"/>
                </a:solidFill>
                <a:latin typeface="Space Grotesk"/>
              </a:rPr>
              <a:t>Ein Angebot der Fieder Handels GmbH, Würzburg.</a:t>
            </a:r>
          </a:p>
        </p:txBody>
      </p:sp>
      <p:sp>
        <p:nvSpPr>
          <p:cNvPr id="10" name="TextBox 9"/>
          <p:cNvSpPr txBox="1"/>
          <p:nvPr/>
        </p:nvSpPr>
        <p:spPr>
          <a:xfrm>
            <a:off x="7159752" y="2377440"/>
            <a:ext cx="4297680" cy="457200"/>
          </a:xfrm>
          <a:prstGeom prst="rect">
            <a:avLst/>
          </a:prstGeom>
          <a:noFill/>
        </p:spPr>
        <p:txBody>
          <a:bodyPr wrap="square" anchor="t" lIns="0" rIns="0" tIns="0" bIns="0">
            <a:spAutoFit/>
          </a:bodyPr>
          <a:lstStyle/>
          <a:p>
            <a:pPr algn="l">
              <a:lnSpc>
                <a:spcPct val="120000"/>
              </a:lnSpc>
              <a:spcBef>
                <a:spcPts val="0"/>
              </a:spcBef>
            </a:pPr>
            <a:r>
              <a:rPr sz="1250" b="0">
                <a:solidFill>
                  <a:srgbClr val="4F6E88"/>
                </a:solidFill>
                <a:latin typeface="Space Grotesk"/>
              </a:rPr>
              <a:t>▪  </a:t>
            </a:r>
            <a:r>
              <a:rPr sz="1250" b="1">
                <a:solidFill>
                  <a:srgbClr val="14171C"/>
                </a:solidFill>
                <a:latin typeface="Space Grotesk"/>
              </a:rPr>
              <a:t>Unternehmer seit dem 15. Lebensjahr: </a:t>
            </a:r>
            <a:r>
              <a:rPr sz="1250" b="0">
                <a:solidFill>
                  <a:srgbClr val="4A5058"/>
                </a:solidFill>
                <a:latin typeface="Space Grotesk"/>
              </a:rPr>
              <a:t>über sechs Jahre selbstständig.</a:t>
            </a:r>
          </a:p>
          <a:p>
            <a:pPr algn="l">
              <a:lnSpc>
                <a:spcPct val="120000"/>
              </a:lnSpc>
              <a:spcBef>
                <a:spcPts val="1000"/>
              </a:spcBef>
            </a:pPr>
            <a:r>
              <a:rPr sz="1250" b="0">
                <a:solidFill>
                  <a:srgbClr val="4F6E88"/>
                </a:solidFill>
                <a:latin typeface="Space Grotesk"/>
              </a:rPr>
              <a:t>▪  </a:t>
            </a:r>
            <a:r>
              <a:rPr sz="1250" b="1">
                <a:solidFill>
                  <a:srgbClr val="14171C"/>
                </a:solidFill>
                <a:latin typeface="Space Grotesk"/>
              </a:rPr>
              <a:t>Rund drei Jahre Beratung: </a:t>
            </a:r>
            <a:r>
              <a:rPr sz="1250" b="0">
                <a:solidFill>
                  <a:srgbClr val="4A5058"/>
                </a:solidFill>
                <a:latin typeface="Space Grotesk"/>
              </a:rPr>
              <a:t>in Projekten unter anderem mit Kunden wie Siemens.</a:t>
            </a:r>
          </a:p>
          <a:p>
            <a:pPr algn="l">
              <a:lnSpc>
                <a:spcPct val="120000"/>
              </a:lnSpc>
              <a:spcBef>
                <a:spcPts val="1000"/>
              </a:spcBef>
            </a:pPr>
            <a:r>
              <a:rPr sz="1250" b="0">
                <a:solidFill>
                  <a:srgbClr val="4F6E88"/>
                </a:solidFill>
                <a:latin typeface="Space Grotesk"/>
              </a:rPr>
              <a:t>▪  </a:t>
            </a:r>
            <a:r>
              <a:rPr sz="1250" b="1">
                <a:solidFill>
                  <a:srgbClr val="14171C"/>
                </a:solidFill>
                <a:latin typeface="Space Grotesk"/>
              </a:rPr>
              <a:t>Keine Papierberge: </a:t>
            </a:r>
            <a:r>
              <a:rPr sz="1250" b="0">
                <a:solidFill>
                  <a:srgbClr val="4A5058"/>
                </a:solidFill>
                <a:latin typeface="Space Grotesk"/>
              </a:rPr>
              <a:t>wir richten ein, weisen ein und bleiben erreichbar, bis es im Alltag läuft.</a:t>
            </a:r>
          </a:p>
        </p:txBody>
      </p:sp>
      <p:sp>
        <p:nvSpPr>
          <p:cNvPr id="11" name="TextBox 10"/>
          <p:cNvSpPr txBox="1"/>
          <p:nvPr/>
        </p:nvSpPr>
        <p:spPr>
          <a:xfrm>
            <a:off x="758952" y="4206240"/>
            <a:ext cx="10241280" cy="1188720"/>
          </a:xfrm>
          <a:prstGeom prst="rect">
            <a:avLst/>
          </a:prstGeom>
          <a:noFill/>
        </p:spPr>
        <p:txBody>
          <a:bodyPr wrap="square" anchor="t" lIns="0" rIns="0" tIns="0" bIns="0">
            <a:spAutoFit/>
          </a:bodyPr>
          <a:lstStyle/>
          <a:p>
            <a:pPr algn="just">
              <a:lnSpc>
                <a:spcPct val="125000"/>
              </a:lnSpc>
              <a:spcBef>
                <a:spcPts val="0"/>
              </a:spcBef>
            </a:pPr>
            <a:r>
              <a:rPr sz="1300" b="0">
                <a:solidFill>
                  <a:srgbClr val="4A5058"/>
                </a:solidFill>
                <a:latin typeface="Space Grotesk"/>
              </a:rPr>
              <a:t>Wir digitalisieren Büro und Verwaltung in Handwerksbetrieben: Angebote, Rechnungen, Ablage, Wissensfragen. Durch Digitalisierung und den Einsatz künstlicher Intelligenz werden Abläufe effizienter, damit auch das Büro endlich Feierabend hat.</a:t>
            </a:r>
          </a:p>
        </p:txBody>
      </p:sp>
      <p:sp>
        <p:nvSpPr>
          <p:cNvPr id="12" name="TextBox 11"/>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7A8088"/>
                </a:solidFill>
                <a:latin typeface="Consolas"/>
              </a:rPr>
              <a:t>MAINFRANKEN DIGITAL</a:t>
            </a:r>
          </a:p>
        </p:txBody>
      </p:sp>
      <p:sp>
        <p:nvSpPr>
          <p:cNvPr id="13" name="TextBox 12"/>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7A8088"/>
                </a:solidFill>
                <a:latin typeface="Consolas"/>
              </a:rPr>
              <a:t>LEISTUNGSÜBERSICHT</a:t>
            </a:r>
          </a:p>
        </p:txBody>
      </p:sp>
      <p:sp>
        <p:nvSpPr>
          <p:cNvPr id="14" name="TextBox 13"/>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7A8088"/>
                </a:solidFill>
                <a:latin typeface="Consola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3F0"/>
        </a:solidFill>
        <a:effectLst/>
      </p:bgPr>
    </p:bg>
    <p:spTree>
      <p:nvGrpSpPr>
        <p:cNvPr id="1" name=""/>
        <p:cNvGrpSpPr/>
        <p:nvPr/>
      </p:nvGrpSpPr>
      <p:grpSpPr/>
      <p:cxnSp>
        <p:nvCxnSpPr>
          <p:cNvPr id="2" name="Connector 1"/>
          <p:cNvCxnSpPr/>
          <p:nvPr/>
        </p:nvCxnSpPr>
        <p:spPr>
          <a:xfrm>
            <a:off x="758952" y="672084"/>
            <a:ext cx="0" cy="100584"/>
          </a:xfrm>
          <a:prstGeom prst="line">
            <a:avLst/>
          </a:prstGeom>
          <a:ln w="12700">
            <a:solidFill>
              <a:srgbClr val="D9D7D2"/>
            </a:solidFill>
          </a:ln>
          <a:effectLst/>
        </p:spPr>
      </p:cxnSp>
      <p:cxnSp>
        <p:nvCxnSpPr>
          <p:cNvPr id="3" name="Connector 2"/>
          <p:cNvCxnSpPr/>
          <p:nvPr/>
        </p:nvCxnSpPr>
        <p:spPr>
          <a:xfrm>
            <a:off x="11432743" y="672084"/>
            <a:ext cx="0" cy="100584"/>
          </a:xfrm>
          <a:prstGeom prst="line">
            <a:avLst/>
          </a:prstGeom>
          <a:ln w="12700">
            <a:solidFill>
              <a:srgbClr val="D9D7D2"/>
            </a:solidFill>
          </a:ln>
          <a:effectLst/>
        </p:spPr>
      </p:cxnSp>
      <p:cxnSp>
        <p:nvCxnSpPr>
          <p:cNvPr id="4" name="Connector 3"/>
          <p:cNvCxnSpPr/>
          <p:nvPr/>
        </p:nvCxnSpPr>
        <p:spPr>
          <a:xfrm>
            <a:off x="758952" y="722376"/>
            <a:ext cx="4454499.5" cy="0"/>
          </a:xfrm>
          <a:prstGeom prst="line">
            <a:avLst/>
          </a:prstGeom>
          <a:ln w="12700">
            <a:solidFill>
              <a:srgbClr val="D9D7D2"/>
            </a:solidFill>
          </a:ln>
          <a:effectLst/>
        </p:spPr>
      </p:cxnSp>
      <p:cxnSp>
        <p:nvCxnSpPr>
          <p:cNvPr id="5" name="Connector 4"/>
          <p:cNvCxnSpPr/>
          <p:nvPr/>
        </p:nvCxnSpPr>
        <p:spPr>
          <a:xfrm>
            <a:off x="6978243.5" y="722376"/>
            <a:ext cx="4454499.5" cy="0"/>
          </a:xfrm>
          <a:prstGeom prst="line">
            <a:avLst/>
          </a:prstGeom>
          <a:ln w="12700">
            <a:solidFill>
              <a:srgbClr val="D9D7D2"/>
            </a:solidFill>
          </a:ln>
          <a:effectLst/>
        </p:spPr>
      </p:cxnSp>
      <p:sp>
        <p:nvSpPr>
          <p:cNvPr id="6" name="TextBox 5"/>
          <p:cNvSpPr txBox="1"/>
          <p:nvPr/>
        </p:nvSpPr>
        <p:spPr>
          <a:xfrm>
            <a:off x="5213451" y="621792"/>
            <a:ext cx="1764792" cy="274320"/>
          </a:xfrm>
          <a:prstGeom prst="rect">
            <a:avLst/>
          </a:prstGeom>
          <a:noFill/>
        </p:spPr>
        <p:txBody>
          <a:bodyPr wrap="square" anchor="t" lIns="0" rIns="0" tIns="0" bIns="0">
            <a:spAutoFit/>
          </a:bodyPr>
          <a:lstStyle/>
          <a:p>
            <a:pPr algn="ctr"/>
            <a:r>
              <a:rPr sz="1000" b="0" spc="300">
                <a:solidFill>
                  <a:srgbClr val="4F6E88"/>
                </a:solidFill>
                <a:latin typeface="Consolas"/>
              </a:rPr>
              <a:t>LEISTUNGEN</a:t>
            </a:r>
          </a:p>
        </p:txBody>
      </p:sp>
      <p:sp>
        <p:nvSpPr>
          <p:cNvPr id="7" name="TextBox 6"/>
          <p:cNvSpPr txBox="1"/>
          <p:nvPr/>
        </p:nvSpPr>
        <p:spPr>
          <a:xfrm>
            <a:off x="758952" y="1280160"/>
            <a:ext cx="10673791" cy="1463040"/>
          </a:xfrm>
          <a:prstGeom prst="rect">
            <a:avLst/>
          </a:prstGeom>
          <a:noFill/>
        </p:spPr>
        <p:txBody>
          <a:bodyPr wrap="square" anchor="t" lIns="0" rIns="0" tIns="0" bIns="0">
            <a:spAutoFit/>
          </a:bodyPr>
          <a:lstStyle/>
          <a:p>
            <a:pPr algn="l">
              <a:lnSpc>
                <a:spcPct val="102000"/>
              </a:lnSpc>
            </a:pPr>
            <a:r>
              <a:rPr sz="3000" b="1">
                <a:solidFill>
                  <a:srgbClr val="14171C"/>
                </a:solidFill>
                <a:latin typeface="Space Grotesk"/>
              </a:rPr>
              <a:t>WAS WIR FÜR IHREN BETRIEB </a:t>
            </a:r>
            <a:r>
              <a:rPr sz="3000" b="1">
                <a:solidFill>
                  <a:srgbClr val="4F6E88"/>
                </a:solidFill>
                <a:latin typeface="Space Grotesk"/>
              </a:rPr>
              <a:t>ANBIETEN</a:t>
            </a:r>
            <a:r>
              <a:rPr sz="3000" b="1">
                <a:solidFill>
                  <a:srgbClr val="14171C"/>
                </a:solidFill>
                <a:latin typeface="Space Grotesk"/>
              </a:rPr>
              <a:t>.</a:t>
            </a:r>
          </a:p>
        </p:txBody>
      </p:sp>
      <p:sp>
        <p:nvSpPr>
          <p:cNvPr id="8" name="Rounded Rectangle 7"/>
          <p:cNvSpPr/>
          <p:nvPr/>
        </p:nvSpPr>
        <p:spPr>
          <a:xfrm>
            <a:off x="758952" y="2240280"/>
            <a:ext cx="2448991" cy="1700784"/>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9" name="TextBox 8"/>
          <p:cNvSpPr txBox="1"/>
          <p:nvPr/>
        </p:nvSpPr>
        <p:spPr>
          <a:xfrm>
            <a:off x="978408" y="2423160"/>
            <a:ext cx="2010079" cy="320040"/>
          </a:xfrm>
          <a:prstGeom prst="rect">
            <a:avLst/>
          </a:prstGeom>
          <a:noFill/>
        </p:spPr>
        <p:txBody>
          <a:bodyPr wrap="square" anchor="t" lIns="0" rIns="0" tIns="0" bIns="0">
            <a:spAutoFit/>
          </a:bodyPr>
          <a:lstStyle/>
          <a:p>
            <a:pPr algn="l"/>
            <a:r>
              <a:rPr sz="1200" b="1">
                <a:solidFill>
                  <a:srgbClr val="4F6E88"/>
                </a:solidFill>
                <a:latin typeface="Consolas"/>
              </a:rPr>
              <a:t>01</a:t>
            </a:r>
          </a:p>
        </p:txBody>
      </p:sp>
      <p:sp>
        <p:nvSpPr>
          <p:cNvPr id="10" name="TextBox 9"/>
          <p:cNvSpPr txBox="1"/>
          <p:nvPr/>
        </p:nvSpPr>
        <p:spPr>
          <a:xfrm>
            <a:off x="978408" y="2715768"/>
            <a:ext cx="2010079" cy="502920"/>
          </a:xfrm>
          <a:prstGeom prst="rect">
            <a:avLst/>
          </a:prstGeom>
          <a:noFill/>
        </p:spPr>
        <p:txBody>
          <a:bodyPr wrap="square" anchor="t" lIns="0" rIns="0" tIns="0" bIns="0">
            <a:spAutoFit/>
          </a:bodyPr>
          <a:lstStyle/>
          <a:p>
            <a:pPr algn="l"/>
            <a:r>
              <a:rPr sz="1250" b="1">
                <a:solidFill>
                  <a:srgbClr val="14171C"/>
                </a:solidFill>
                <a:latin typeface="Space Grotesk"/>
              </a:rPr>
              <a:t>KI-Tools einführen</a:t>
            </a:r>
          </a:p>
        </p:txBody>
      </p:sp>
      <p:sp>
        <p:nvSpPr>
          <p:cNvPr id="11" name="TextBox 10"/>
          <p:cNvSpPr txBox="1"/>
          <p:nvPr/>
        </p:nvSpPr>
        <p:spPr>
          <a:xfrm>
            <a:off x="978408" y="3136392"/>
            <a:ext cx="2010079" cy="694944"/>
          </a:xfrm>
          <a:prstGeom prst="rect">
            <a:avLst/>
          </a:prstGeom>
          <a:noFill/>
        </p:spPr>
        <p:txBody>
          <a:bodyPr wrap="square" anchor="t" lIns="0" rIns="0" tIns="0" bIns="0">
            <a:spAutoFit/>
          </a:bodyPr>
          <a:lstStyle/>
          <a:p>
            <a:pPr algn="l">
              <a:lnSpc>
                <a:spcPct val="125000"/>
              </a:lnSpc>
              <a:spcBef>
                <a:spcPts val="0"/>
              </a:spcBef>
            </a:pPr>
            <a:r>
              <a:rPr sz="880" b="0">
                <a:solidFill>
                  <a:srgbClr val="4A5058"/>
                </a:solidFill>
                <a:latin typeface="Space Grotesk"/>
              </a:rPr>
              <a:t>ChatGPT, Claude und Co: das passende Werkzeug auswählen, sicher einrichten, sinnvoll in den Alltag holen.</a:t>
            </a:r>
          </a:p>
        </p:txBody>
      </p:sp>
      <p:sp>
        <p:nvSpPr>
          <p:cNvPr id="12" name="Rounded Rectangle 11"/>
          <p:cNvSpPr/>
          <p:nvPr/>
        </p:nvSpPr>
        <p:spPr>
          <a:xfrm>
            <a:off x="3500551" y="2240280"/>
            <a:ext cx="2448991" cy="1700784"/>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13" name="TextBox 12"/>
          <p:cNvSpPr txBox="1"/>
          <p:nvPr/>
        </p:nvSpPr>
        <p:spPr>
          <a:xfrm>
            <a:off x="3720007" y="2423160"/>
            <a:ext cx="2010079" cy="320040"/>
          </a:xfrm>
          <a:prstGeom prst="rect">
            <a:avLst/>
          </a:prstGeom>
          <a:noFill/>
        </p:spPr>
        <p:txBody>
          <a:bodyPr wrap="square" anchor="t" lIns="0" rIns="0" tIns="0" bIns="0">
            <a:spAutoFit/>
          </a:bodyPr>
          <a:lstStyle/>
          <a:p>
            <a:pPr algn="l"/>
            <a:r>
              <a:rPr sz="1200" b="1">
                <a:solidFill>
                  <a:srgbClr val="4F6E88"/>
                </a:solidFill>
                <a:latin typeface="Consolas"/>
              </a:rPr>
              <a:t>02</a:t>
            </a:r>
          </a:p>
        </p:txBody>
      </p:sp>
      <p:sp>
        <p:nvSpPr>
          <p:cNvPr id="14" name="TextBox 13"/>
          <p:cNvSpPr txBox="1"/>
          <p:nvPr/>
        </p:nvSpPr>
        <p:spPr>
          <a:xfrm>
            <a:off x="3720007" y="2715768"/>
            <a:ext cx="2010079" cy="502920"/>
          </a:xfrm>
          <a:prstGeom prst="rect">
            <a:avLst/>
          </a:prstGeom>
          <a:noFill/>
        </p:spPr>
        <p:txBody>
          <a:bodyPr wrap="square" anchor="t" lIns="0" rIns="0" tIns="0" bIns="0">
            <a:spAutoFit/>
          </a:bodyPr>
          <a:lstStyle/>
          <a:p>
            <a:pPr algn="l"/>
            <a:r>
              <a:rPr sz="1250" b="1">
                <a:solidFill>
                  <a:srgbClr val="14171C"/>
                </a:solidFill>
                <a:latin typeface="Space Grotesk"/>
              </a:rPr>
              <a:t>Mitarbeiter schulen</a:t>
            </a:r>
          </a:p>
        </p:txBody>
      </p:sp>
      <p:sp>
        <p:nvSpPr>
          <p:cNvPr id="15" name="TextBox 14"/>
          <p:cNvSpPr txBox="1"/>
          <p:nvPr/>
        </p:nvSpPr>
        <p:spPr>
          <a:xfrm>
            <a:off x="3720007" y="3136392"/>
            <a:ext cx="2010079" cy="694944"/>
          </a:xfrm>
          <a:prstGeom prst="rect">
            <a:avLst/>
          </a:prstGeom>
          <a:noFill/>
        </p:spPr>
        <p:txBody>
          <a:bodyPr wrap="square" anchor="t" lIns="0" rIns="0" tIns="0" bIns="0">
            <a:spAutoFit/>
          </a:bodyPr>
          <a:lstStyle/>
          <a:p>
            <a:pPr algn="l">
              <a:lnSpc>
                <a:spcPct val="125000"/>
              </a:lnSpc>
              <a:spcBef>
                <a:spcPts val="0"/>
              </a:spcBef>
            </a:pPr>
            <a:r>
              <a:rPr sz="880" b="0">
                <a:solidFill>
                  <a:srgbClr val="4A5058"/>
                </a:solidFill>
                <a:latin typeface="Space Grotesk"/>
              </a:rPr>
              <a:t>Praxisnah am eigenen Arbeitsplatz, damit die Werkzeuge auch wirklich genutzt werden.</a:t>
            </a:r>
          </a:p>
        </p:txBody>
      </p:sp>
      <p:sp>
        <p:nvSpPr>
          <p:cNvPr id="16" name="Rounded Rectangle 15"/>
          <p:cNvSpPr/>
          <p:nvPr/>
        </p:nvSpPr>
        <p:spPr>
          <a:xfrm>
            <a:off x="6242151" y="2240280"/>
            <a:ext cx="2448991" cy="1700784"/>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17" name="TextBox 16"/>
          <p:cNvSpPr txBox="1"/>
          <p:nvPr/>
        </p:nvSpPr>
        <p:spPr>
          <a:xfrm>
            <a:off x="6461607" y="2423160"/>
            <a:ext cx="2010079" cy="320040"/>
          </a:xfrm>
          <a:prstGeom prst="rect">
            <a:avLst/>
          </a:prstGeom>
          <a:noFill/>
        </p:spPr>
        <p:txBody>
          <a:bodyPr wrap="square" anchor="t" lIns="0" rIns="0" tIns="0" bIns="0">
            <a:spAutoFit/>
          </a:bodyPr>
          <a:lstStyle/>
          <a:p>
            <a:pPr algn="l"/>
            <a:r>
              <a:rPr sz="1200" b="1">
                <a:solidFill>
                  <a:srgbClr val="4F6E88"/>
                </a:solidFill>
                <a:latin typeface="Consolas"/>
              </a:rPr>
              <a:t>03</a:t>
            </a:r>
          </a:p>
        </p:txBody>
      </p:sp>
      <p:sp>
        <p:nvSpPr>
          <p:cNvPr id="18" name="TextBox 17"/>
          <p:cNvSpPr txBox="1"/>
          <p:nvPr/>
        </p:nvSpPr>
        <p:spPr>
          <a:xfrm>
            <a:off x="6461607" y="2715768"/>
            <a:ext cx="2010079" cy="502920"/>
          </a:xfrm>
          <a:prstGeom prst="rect">
            <a:avLst/>
          </a:prstGeom>
          <a:noFill/>
        </p:spPr>
        <p:txBody>
          <a:bodyPr wrap="square" anchor="t" lIns="0" rIns="0" tIns="0" bIns="0">
            <a:spAutoFit/>
          </a:bodyPr>
          <a:lstStyle/>
          <a:p>
            <a:pPr algn="l"/>
            <a:r>
              <a:rPr sz="1250" b="1">
                <a:solidFill>
                  <a:srgbClr val="14171C"/>
                </a:solidFill>
                <a:latin typeface="Space Grotesk"/>
              </a:rPr>
              <a:t>Technik-Infrastruktur</a:t>
            </a:r>
          </a:p>
        </p:txBody>
      </p:sp>
      <p:sp>
        <p:nvSpPr>
          <p:cNvPr id="19" name="TextBox 18"/>
          <p:cNvSpPr txBox="1"/>
          <p:nvPr/>
        </p:nvSpPr>
        <p:spPr>
          <a:xfrm>
            <a:off x="6461607" y="3136392"/>
            <a:ext cx="2010079" cy="694944"/>
          </a:xfrm>
          <a:prstGeom prst="rect">
            <a:avLst/>
          </a:prstGeom>
          <a:noFill/>
        </p:spPr>
        <p:txBody>
          <a:bodyPr wrap="square" anchor="t" lIns="0" rIns="0" tIns="0" bIns="0">
            <a:spAutoFit/>
          </a:bodyPr>
          <a:lstStyle/>
          <a:p>
            <a:pPr algn="l">
              <a:lnSpc>
                <a:spcPct val="125000"/>
              </a:lnSpc>
              <a:spcBef>
                <a:spcPts val="0"/>
              </a:spcBef>
            </a:pPr>
            <a:r>
              <a:rPr sz="880" b="0">
                <a:solidFill>
                  <a:srgbClr val="4A5058"/>
                </a:solidFill>
                <a:latin typeface="Space Grotesk"/>
              </a:rPr>
              <a:t>Analyse der bestehenden Technik: Geräte, Software, Ablage, Datensicherung. Was fehlt, was ist zu viel.</a:t>
            </a:r>
          </a:p>
        </p:txBody>
      </p:sp>
      <p:sp>
        <p:nvSpPr>
          <p:cNvPr id="20" name="Rounded Rectangle 19"/>
          <p:cNvSpPr/>
          <p:nvPr/>
        </p:nvSpPr>
        <p:spPr>
          <a:xfrm>
            <a:off x="8983751" y="2240280"/>
            <a:ext cx="2448991" cy="1700784"/>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21" name="TextBox 20"/>
          <p:cNvSpPr txBox="1"/>
          <p:nvPr/>
        </p:nvSpPr>
        <p:spPr>
          <a:xfrm>
            <a:off x="9203207" y="2423160"/>
            <a:ext cx="2010079" cy="320040"/>
          </a:xfrm>
          <a:prstGeom prst="rect">
            <a:avLst/>
          </a:prstGeom>
          <a:noFill/>
        </p:spPr>
        <p:txBody>
          <a:bodyPr wrap="square" anchor="t" lIns="0" rIns="0" tIns="0" bIns="0">
            <a:spAutoFit/>
          </a:bodyPr>
          <a:lstStyle/>
          <a:p>
            <a:pPr algn="l"/>
            <a:r>
              <a:rPr sz="1200" b="1">
                <a:solidFill>
                  <a:srgbClr val="4F6E88"/>
                </a:solidFill>
                <a:latin typeface="Consolas"/>
              </a:rPr>
              <a:t>04</a:t>
            </a:r>
          </a:p>
        </p:txBody>
      </p:sp>
      <p:sp>
        <p:nvSpPr>
          <p:cNvPr id="22" name="TextBox 21"/>
          <p:cNvSpPr txBox="1"/>
          <p:nvPr/>
        </p:nvSpPr>
        <p:spPr>
          <a:xfrm>
            <a:off x="9203207" y="2715768"/>
            <a:ext cx="2010079" cy="502920"/>
          </a:xfrm>
          <a:prstGeom prst="rect">
            <a:avLst/>
          </a:prstGeom>
          <a:noFill/>
        </p:spPr>
        <p:txBody>
          <a:bodyPr wrap="square" anchor="t" lIns="0" rIns="0" tIns="0" bIns="0">
            <a:spAutoFit/>
          </a:bodyPr>
          <a:lstStyle/>
          <a:p>
            <a:pPr algn="l"/>
            <a:r>
              <a:rPr sz="1250" b="1">
                <a:solidFill>
                  <a:srgbClr val="14171C"/>
                </a:solidFill>
                <a:latin typeface="Space Grotesk"/>
              </a:rPr>
              <a:t>Verträge prüfen</a:t>
            </a:r>
          </a:p>
        </p:txBody>
      </p:sp>
      <p:sp>
        <p:nvSpPr>
          <p:cNvPr id="23" name="TextBox 22"/>
          <p:cNvSpPr txBox="1"/>
          <p:nvPr/>
        </p:nvSpPr>
        <p:spPr>
          <a:xfrm>
            <a:off x="9203207" y="3136392"/>
            <a:ext cx="2010079" cy="694944"/>
          </a:xfrm>
          <a:prstGeom prst="rect">
            <a:avLst/>
          </a:prstGeom>
          <a:noFill/>
        </p:spPr>
        <p:txBody>
          <a:bodyPr wrap="square" anchor="t" lIns="0" rIns="0" tIns="0" bIns="0">
            <a:spAutoFit/>
          </a:bodyPr>
          <a:lstStyle/>
          <a:p>
            <a:pPr algn="l">
              <a:lnSpc>
                <a:spcPct val="125000"/>
              </a:lnSpc>
              <a:spcBef>
                <a:spcPts val="0"/>
              </a:spcBef>
            </a:pPr>
            <a:r>
              <a:rPr sz="880" b="0">
                <a:solidFill>
                  <a:srgbClr val="4A5058"/>
                </a:solidFill>
                <a:latin typeface="Space Grotesk"/>
              </a:rPr>
              <a:t>Laufende Verträge mit IT-Dienstleistern und Website-Tools: was sie kosten und was sie wirklich bringen.</a:t>
            </a:r>
          </a:p>
        </p:txBody>
      </p:sp>
      <p:sp>
        <p:nvSpPr>
          <p:cNvPr id="24" name="Rounded Rectangle 23"/>
          <p:cNvSpPr/>
          <p:nvPr/>
        </p:nvSpPr>
        <p:spPr>
          <a:xfrm>
            <a:off x="758952" y="4215384"/>
            <a:ext cx="2448991" cy="1700784"/>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25" name="TextBox 24"/>
          <p:cNvSpPr txBox="1"/>
          <p:nvPr/>
        </p:nvSpPr>
        <p:spPr>
          <a:xfrm>
            <a:off x="978408" y="4398264"/>
            <a:ext cx="2010079" cy="320040"/>
          </a:xfrm>
          <a:prstGeom prst="rect">
            <a:avLst/>
          </a:prstGeom>
          <a:noFill/>
        </p:spPr>
        <p:txBody>
          <a:bodyPr wrap="square" anchor="t" lIns="0" rIns="0" tIns="0" bIns="0">
            <a:spAutoFit/>
          </a:bodyPr>
          <a:lstStyle/>
          <a:p>
            <a:pPr algn="l"/>
            <a:r>
              <a:rPr sz="1200" b="1">
                <a:solidFill>
                  <a:srgbClr val="4F6E88"/>
                </a:solidFill>
                <a:latin typeface="Consolas"/>
              </a:rPr>
              <a:t>05</a:t>
            </a:r>
          </a:p>
        </p:txBody>
      </p:sp>
      <p:sp>
        <p:nvSpPr>
          <p:cNvPr id="26" name="TextBox 25"/>
          <p:cNvSpPr txBox="1"/>
          <p:nvPr/>
        </p:nvSpPr>
        <p:spPr>
          <a:xfrm>
            <a:off x="978408" y="4690872"/>
            <a:ext cx="2010079" cy="502920"/>
          </a:xfrm>
          <a:prstGeom prst="rect">
            <a:avLst/>
          </a:prstGeom>
          <a:noFill/>
        </p:spPr>
        <p:txBody>
          <a:bodyPr wrap="square" anchor="t" lIns="0" rIns="0" tIns="0" bIns="0">
            <a:spAutoFit/>
          </a:bodyPr>
          <a:lstStyle/>
          <a:p>
            <a:pPr algn="l"/>
            <a:r>
              <a:rPr sz="1250" b="1">
                <a:solidFill>
                  <a:srgbClr val="14171C"/>
                </a:solidFill>
                <a:latin typeface="Space Grotesk"/>
              </a:rPr>
              <a:t>Angebote automatisieren</a:t>
            </a:r>
          </a:p>
        </p:txBody>
      </p:sp>
      <p:sp>
        <p:nvSpPr>
          <p:cNvPr id="27" name="TextBox 26"/>
          <p:cNvSpPr txBox="1"/>
          <p:nvPr/>
        </p:nvSpPr>
        <p:spPr>
          <a:xfrm>
            <a:off x="978408" y="5111496"/>
            <a:ext cx="2010079" cy="694944"/>
          </a:xfrm>
          <a:prstGeom prst="rect">
            <a:avLst/>
          </a:prstGeom>
          <a:noFill/>
        </p:spPr>
        <p:txBody>
          <a:bodyPr wrap="square" anchor="t" lIns="0" rIns="0" tIns="0" bIns="0">
            <a:spAutoFit/>
          </a:bodyPr>
          <a:lstStyle/>
          <a:p>
            <a:pPr algn="l">
              <a:lnSpc>
                <a:spcPct val="125000"/>
              </a:lnSpc>
              <a:spcBef>
                <a:spcPts val="0"/>
              </a:spcBef>
            </a:pPr>
            <a:r>
              <a:rPr sz="880" b="0">
                <a:solidFill>
                  <a:srgbClr val="4A5058"/>
                </a:solidFill>
                <a:latin typeface="Space Grotesk"/>
              </a:rPr>
              <a:t>Vom Aufmaß zum fertigen Angebot in Minuten statt am Abend am Küchentisch.</a:t>
            </a:r>
          </a:p>
        </p:txBody>
      </p:sp>
      <p:sp>
        <p:nvSpPr>
          <p:cNvPr id="28" name="Rounded Rectangle 27"/>
          <p:cNvSpPr/>
          <p:nvPr/>
        </p:nvSpPr>
        <p:spPr>
          <a:xfrm>
            <a:off x="3500551" y="4215384"/>
            <a:ext cx="2448991" cy="1700784"/>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29" name="TextBox 28"/>
          <p:cNvSpPr txBox="1"/>
          <p:nvPr/>
        </p:nvSpPr>
        <p:spPr>
          <a:xfrm>
            <a:off x="3720007" y="4398264"/>
            <a:ext cx="2010079" cy="320040"/>
          </a:xfrm>
          <a:prstGeom prst="rect">
            <a:avLst/>
          </a:prstGeom>
          <a:noFill/>
        </p:spPr>
        <p:txBody>
          <a:bodyPr wrap="square" anchor="t" lIns="0" rIns="0" tIns="0" bIns="0">
            <a:spAutoFit/>
          </a:bodyPr>
          <a:lstStyle/>
          <a:p>
            <a:pPr algn="l"/>
            <a:r>
              <a:rPr sz="1200" b="1">
                <a:solidFill>
                  <a:srgbClr val="4F6E88"/>
                </a:solidFill>
                <a:latin typeface="Consolas"/>
              </a:rPr>
              <a:t>06</a:t>
            </a:r>
          </a:p>
        </p:txBody>
      </p:sp>
      <p:sp>
        <p:nvSpPr>
          <p:cNvPr id="30" name="TextBox 29"/>
          <p:cNvSpPr txBox="1"/>
          <p:nvPr/>
        </p:nvSpPr>
        <p:spPr>
          <a:xfrm>
            <a:off x="3720007" y="4690872"/>
            <a:ext cx="2010079" cy="502920"/>
          </a:xfrm>
          <a:prstGeom prst="rect">
            <a:avLst/>
          </a:prstGeom>
          <a:noFill/>
        </p:spPr>
        <p:txBody>
          <a:bodyPr wrap="square" anchor="t" lIns="0" rIns="0" tIns="0" bIns="0">
            <a:spAutoFit/>
          </a:bodyPr>
          <a:lstStyle/>
          <a:p>
            <a:pPr algn="l"/>
            <a:r>
              <a:rPr sz="1250" b="1">
                <a:solidFill>
                  <a:srgbClr val="14171C"/>
                </a:solidFill>
                <a:latin typeface="Space Grotesk"/>
              </a:rPr>
              <a:t>Website optimieren</a:t>
            </a:r>
          </a:p>
        </p:txBody>
      </p:sp>
      <p:sp>
        <p:nvSpPr>
          <p:cNvPr id="31" name="TextBox 30"/>
          <p:cNvSpPr txBox="1"/>
          <p:nvPr/>
        </p:nvSpPr>
        <p:spPr>
          <a:xfrm>
            <a:off x="3720007" y="5111496"/>
            <a:ext cx="2010079" cy="694944"/>
          </a:xfrm>
          <a:prstGeom prst="rect">
            <a:avLst/>
          </a:prstGeom>
          <a:noFill/>
        </p:spPr>
        <p:txBody>
          <a:bodyPr wrap="square" anchor="t" lIns="0" rIns="0" tIns="0" bIns="0">
            <a:spAutoFit/>
          </a:bodyPr>
          <a:lstStyle/>
          <a:p>
            <a:pPr algn="l">
              <a:lnSpc>
                <a:spcPct val="125000"/>
              </a:lnSpc>
              <a:spcBef>
                <a:spcPts val="0"/>
              </a:spcBef>
            </a:pPr>
            <a:r>
              <a:rPr sz="880" b="0">
                <a:solidFill>
                  <a:srgbClr val="4A5058"/>
                </a:solidFill>
                <a:latin typeface="Space Grotesk"/>
              </a:rPr>
              <a:t>Die bestehende Website schneller, auffindbarer und aktuell halten.</a:t>
            </a:r>
          </a:p>
        </p:txBody>
      </p:sp>
      <p:sp>
        <p:nvSpPr>
          <p:cNvPr id="32" name="Rounded Rectangle 31"/>
          <p:cNvSpPr/>
          <p:nvPr/>
        </p:nvSpPr>
        <p:spPr>
          <a:xfrm>
            <a:off x="6242151" y="4215384"/>
            <a:ext cx="2448991" cy="1700784"/>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33" name="TextBox 32"/>
          <p:cNvSpPr txBox="1"/>
          <p:nvPr/>
        </p:nvSpPr>
        <p:spPr>
          <a:xfrm>
            <a:off x="6461607" y="4398264"/>
            <a:ext cx="2010079" cy="320040"/>
          </a:xfrm>
          <a:prstGeom prst="rect">
            <a:avLst/>
          </a:prstGeom>
          <a:noFill/>
        </p:spPr>
        <p:txBody>
          <a:bodyPr wrap="square" anchor="t" lIns="0" rIns="0" tIns="0" bIns="0">
            <a:spAutoFit/>
          </a:bodyPr>
          <a:lstStyle/>
          <a:p>
            <a:pPr algn="l"/>
            <a:r>
              <a:rPr sz="1200" b="1">
                <a:solidFill>
                  <a:srgbClr val="4F6E88"/>
                </a:solidFill>
                <a:latin typeface="Consolas"/>
              </a:rPr>
              <a:t>07</a:t>
            </a:r>
          </a:p>
        </p:txBody>
      </p:sp>
      <p:sp>
        <p:nvSpPr>
          <p:cNvPr id="34" name="TextBox 33"/>
          <p:cNvSpPr txBox="1"/>
          <p:nvPr/>
        </p:nvSpPr>
        <p:spPr>
          <a:xfrm>
            <a:off x="6461607" y="4690872"/>
            <a:ext cx="2010079" cy="502920"/>
          </a:xfrm>
          <a:prstGeom prst="rect">
            <a:avLst/>
          </a:prstGeom>
          <a:noFill/>
        </p:spPr>
        <p:txBody>
          <a:bodyPr wrap="square" anchor="t" lIns="0" rIns="0" tIns="0" bIns="0">
            <a:spAutoFit/>
          </a:bodyPr>
          <a:lstStyle/>
          <a:p>
            <a:pPr algn="l"/>
            <a:r>
              <a:rPr sz="1250" b="1">
                <a:solidFill>
                  <a:srgbClr val="14171C"/>
                </a:solidFill>
                <a:latin typeface="Space Grotesk"/>
              </a:rPr>
              <a:t>Website erstellen</a:t>
            </a:r>
          </a:p>
        </p:txBody>
      </p:sp>
      <p:sp>
        <p:nvSpPr>
          <p:cNvPr id="35" name="TextBox 34"/>
          <p:cNvSpPr txBox="1"/>
          <p:nvPr/>
        </p:nvSpPr>
        <p:spPr>
          <a:xfrm>
            <a:off x="6461607" y="5111496"/>
            <a:ext cx="2010079" cy="694944"/>
          </a:xfrm>
          <a:prstGeom prst="rect">
            <a:avLst/>
          </a:prstGeom>
          <a:noFill/>
        </p:spPr>
        <p:txBody>
          <a:bodyPr wrap="square" anchor="t" lIns="0" rIns="0" tIns="0" bIns="0">
            <a:spAutoFit/>
          </a:bodyPr>
          <a:lstStyle/>
          <a:p>
            <a:pPr algn="l">
              <a:lnSpc>
                <a:spcPct val="125000"/>
              </a:lnSpc>
              <a:spcBef>
                <a:spcPts val="0"/>
              </a:spcBef>
            </a:pPr>
            <a:r>
              <a:rPr sz="880" b="0">
                <a:solidFill>
                  <a:srgbClr val="4A5058"/>
                </a:solidFill>
                <a:latin typeface="Space Grotesk"/>
              </a:rPr>
              <a:t>Eine neue Website, die Anfragen bringt, statt nur da zu sein.</a:t>
            </a:r>
          </a:p>
        </p:txBody>
      </p:sp>
      <p:sp>
        <p:nvSpPr>
          <p:cNvPr id="36" name="Rounded Rectangle 35"/>
          <p:cNvSpPr/>
          <p:nvPr/>
        </p:nvSpPr>
        <p:spPr>
          <a:xfrm>
            <a:off x="8983751" y="4215384"/>
            <a:ext cx="2448991" cy="1700784"/>
          </a:xfrm>
          <a:prstGeom prst="roundRect">
            <a:avLst>
              <a:gd name="adj" fmla="val 3500"/>
            </a:avLst>
          </a:prstGeom>
          <a:solidFill>
            <a:srgbClr val="FCFBF9"/>
          </a:solidFill>
          <a:ln w="13970">
            <a:solidFill>
              <a:srgbClr val="4F6E88"/>
            </a:solidFill>
          </a:ln>
          <a:effectLst/>
        </p:spPr>
        <p:txBody>
          <a:bodyPr rtlCol="0" anchor="ctr"/>
          <a:lstStyle/>
          <a:p>
            <a:pPr algn="ctr"/>
          </a:p>
        </p:txBody>
      </p:sp>
      <p:sp>
        <p:nvSpPr>
          <p:cNvPr id="37" name="TextBox 36"/>
          <p:cNvSpPr txBox="1"/>
          <p:nvPr/>
        </p:nvSpPr>
        <p:spPr>
          <a:xfrm>
            <a:off x="9203207" y="4398264"/>
            <a:ext cx="2010079" cy="320040"/>
          </a:xfrm>
          <a:prstGeom prst="rect">
            <a:avLst/>
          </a:prstGeom>
          <a:noFill/>
        </p:spPr>
        <p:txBody>
          <a:bodyPr wrap="square" anchor="t" lIns="0" rIns="0" tIns="0" bIns="0">
            <a:spAutoFit/>
          </a:bodyPr>
          <a:lstStyle/>
          <a:p>
            <a:pPr algn="l"/>
            <a:r>
              <a:rPr sz="1200" b="1">
                <a:solidFill>
                  <a:srgbClr val="4F6E88"/>
                </a:solidFill>
                <a:latin typeface="Consolas"/>
              </a:rPr>
              <a:t>08</a:t>
            </a:r>
          </a:p>
        </p:txBody>
      </p:sp>
      <p:sp>
        <p:nvSpPr>
          <p:cNvPr id="38" name="TextBox 37"/>
          <p:cNvSpPr txBox="1"/>
          <p:nvPr/>
        </p:nvSpPr>
        <p:spPr>
          <a:xfrm>
            <a:off x="9203207" y="4690872"/>
            <a:ext cx="2010079" cy="502920"/>
          </a:xfrm>
          <a:prstGeom prst="rect">
            <a:avLst/>
          </a:prstGeom>
          <a:noFill/>
        </p:spPr>
        <p:txBody>
          <a:bodyPr wrap="square" anchor="t" lIns="0" rIns="0" tIns="0" bIns="0">
            <a:spAutoFit/>
          </a:bodyPr>
          <a:lstStyle/>
          <a:p>
            <a:pPr algn="l"/>
            <a:r>
              <a:rPr sz="1250" b="1">
                <a:solidFill>
                  <a:srgbClr val="14171C"/>
                </a:solidFill>
                <a:latin typeface="Space Grotesk"/>
              </a:rPr>
              <a:t>Und mehr</a:t>
            </a:r>
          </a:p>
        </p:txBody>
      </p:sp>
      <p:sp>
        <p:nvSpPr>
          <p:cNvPr id="39" name="TextBox 38"/>
          <p:cNvSpPr txBox="1"/>
          <p:nvPr/>
        </p:nvSpPr>
        <p:spPr>
          <a:xfrm>
            <a:off x="9203207" y="5111496"/>
            <a:ext cx="2010079" cy="694944"/>
          </a:xfrm>
          <a:prstGeom prst="rect">
            <a:avLst/>
          </a:prstGeom>
          <a:noFill/>
        </p:spPr>
        <p:txBody>
          <a:bodyPr wrap="square" anchor="t" lIns="0" rIns="0" tIns="0" bIns="0">
            <a:spAutoFit/>
          </a:bodyPr>
          <a:lstStyle/>
          <a:p>
            <a:pPr algn="l">
              <a:lnSpc>
                <a:spcPct val="125000"/>
              </a:lnSpc>
              <a:spcBef>
                <a:spcPts val="0"/>
              </a:spcBef>
            </a:pPr>
            <a:r>
              <a:rPr sz="880" b="0">
                <a:solidFill>
                  <a:srgbClr val="4A5058"/>
                </a:solidFill>
                <a:latin typeface="Space Grotesk"/>
              </a:rPr>
              <a:t>Jeder Betrieb ist anders. Was bei Ihnen klemmt, schauen wir uns unverbindlich an.</a:t>
            </a:r>
          </a:p>
        </p:txBody>
      </p:sp>
      <p:sp>
        <p:nvSpPr>
          <p:cNvPr id="40" name="TextBox 39"/>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7A8088"/>
                </a:solidFill>
                <a:latin typeface="Consolas"/>
              </a:rPr>
              <a:t>MAINFRANKEN DIGITAL</a:t>
            </a:r>
          </a:p>
        </p:txBody>
      </p:sp>
      <p:sp>
        <p:nvSpPr>
          <p:cNvPr id="41" name="TextBox 40"/>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7A8088"/>
                </a:solidFill>
                <a:latin typeface="Consolas"/>
              </a:rPr>
              <a:t>LEISTUNGSÜBERSICHT</a:t>
            </a:r>
          </a:p>
        </p:txBody>
      </p:sp>
      <p:sp>
        <p:nvSpPr>
          <p:cNvPr id="42" name="TextBox 41"/>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7A8088"/>
                </a:solidFill>
                <a:latin typeface="Consola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3F0"/>
        </a:solidFill>
        <a:effectLst/>
      </p:bgPr>
    </p:bg>
    <p:spTree>
      <p:nvGrpSpPr>
        <p:cNvPr id="1" name=""/>
        <p:cNvGrpSpPr/>
        <p:nvPr/>
      </p:nvGrpSpPr>
      <p:grpSpPr/>
      <p:cxnSp>
        <p:nvCxnSpPr>
          <p:cNvPr id="2" name="Connector 1"/>
          <p:cNvCxnSpPr/>
          <p:nvPr/>
        </p:nvCxnSpPr>
        <p:spPr>
          <a:xfrm>
            <a:off x="758952" y="672084"/>
            <a:ext cx="0" cy="100584"/>
          </a:xfrm>
          <a:prstGeom prst="line">
            <a:avLst/>
          </a:prstGeom>
          <a:ln w="12700">
            <a:solidFill>
              <a:srgbClr val="D9D7D2"/>
            </a:solidFill>
          </a:ln>
          <a:effectLst/>
        </p:spPr>
      </p:cxnSp>
      <p:cxnSp>
        <p:nvCxnSpPr>
          <p:cNvPr id="3" name="Connector 2"/>
          <p:cNvCxnSpPr/>
          <p:nvPr/>
        </p:nvCxnSpPr>
        <p:spPr>
          <a:xfrm>
            <a:off x="11432743" y="672084"/>
            <a:ext cx="0" cy="100584"/>
          </a:xfrm>
          <a:prstGeom prst="line">
            <a:avLst/>
          </a:prstGeom>
          <a:ln w="12700">
            <a:solidFill>
              <a:srgbClr val="D9D7D2"/>
            </a:solidFill>
          </a:ln>
          <a:effectLst/>
        </p:spPr>
      </p:cxnSp>
      <p:cxnSp>
        <p:nvCxnSpPr>
          <p:cNvPr id="4" name="Connector 3"/>
          <p:cNvCxnSpPr/>
          <p:nvPr/>
        </p:nvCxnSpPr>
        <p:spPr>
          <a:xfrm>
            <a:off x="758952" y="722376"/>
            <a:ext cx="4559655.5" cy="0"/>
          </a:xfrm>
          <a:prstGeom prst="line">
            <a:avLst/>
          </a:prstGeom>
          <a:ln w="12700">
            <a:solidFill>
              <a:srgbClr val="D9D7D2"/>
            </a:solidFill>
          </a:ln>
          <a:effectLst/>
        </p:spPr>
      </p:cxnSp>
      <p:cxnSp>
        <p:nvCxnSpPr>
          <p:cNvPr id="5" name="Connector 4"/>
          <p:cNvCxnSpPr/>
          <p:nvPr/>
        </p:nvCxnSpPr>
        <p:spPr>
          <a:xfrm>
            <a:off x="6873087.5" y="722376"/>
            <a:ext cx="4559655.5" cy="0"/>
          </a:xfrm>
          <a:prstGeom prst="line">
            <a:avLst/>
          </a:prstGeom>
          <a:ln w="12700">
            <a:solidFill>
              <a:srgbClr val="D9D7D2"/>
            </a:solidFill>
          </a:ln>
          <a:effectLst/>
        </p:spPr>
      </p:cxnSp>
      <p:sp>
        <p:nvSpPr>
          <p:cNvPr id="6" name="TextBox 5"/>
          <p:cNvSpPr txBox="1"/>
          <p:nvPr/>
        </p:nvSpPr>
        <p:spPr>
          <a:xfrm>
            <a:off x="5318607" y="621792"/>
            <a:ext cx="1554480" cy="274320"/>
          </a:xfrm>
          <a:prstGeom prst="rect">
            <a:avLst/>
          </a:prstGeom>
          <a:noFill/>
        </p:spPr>
        <p:txBody>
          <a:bodyPr wrap="square" anchor="t" lIns="0" rIns="0" tIns="0" bIns="0">
            <a:spAutoFit/>
          </a:bodyPr>
          <a:lstStyle/>
          <a:p>
            <a:pPr algn="ctr"/>
            <a:r>
              <a:rPr sz="1000" b="0" spc="300">
                <a:solidFill>
                  <a:srgbClr val="4F6E88"/>
                </a:solidFill>
                <a:latin typeface="Consolas"/>
              </a:rPr>
              <a:t>EINSTIEG</a:t>
            </a:r>
          </a:p>
        </p:txBody>
      </p:sp>
      <p:sp>
        <p:nvSpPr>
          <p:cNvPr id="7" name="TextBox 6"/>
          <p:cNvSpPr txBox="1"/>
          <p:nvPr/>
        </p:nvSpPr>
        <p:spPr>
          <a:xfrm>
            <a:off x="758952" y="1280160"/>
            <a:ext cx="10673791" cy="1463040"/>
          </a:xfrm>
          <a:prstGeom prst="rect">
            <a:avLst/>
          </a:prstGeom>
          <a:noFill/>
        </p:spPr>
        <p:txBody>
          <a:bodyPr wrap="square" anchor="t" lIns="0" rIns="0" tIns="0" bIns="0">
            <a:spAutoFit/>
          </a:bodyPr>
          <a:lstStyle/>
          <a:p>
            <a:pPr algn="l">
              <a:lnSpc>
                <a:spcPct val="102000"/>
              </a:lnSpc>
            </a:pPr>
            <a:r>
              <a:rPr sz="3000" b="1">
                <a:solidFill>
                  <a:srgbClr val="14171C"/>
                </a:solidFill>
                <a:latin typeface="Space Grotesk"/>
              </a:rPr>
              <a:t>DER EINSTIEG: DIE </a:t>
            </a:r>
            <a:r>
              <a:rPr sz="3000" b="1">
                <a:solidFill>
                  <a:srgbClr val="4F6E88"/>
                </a:solidFill>
                <a:latin typeface="Space Grotesk"/>
              </a:rPr>
              <a:t>STATUS-QUO-ANALYSE</a:t>
            </a:r>
            <a:r>
              <a:rPr sz="3000" b="1">
                <a:solidFill>
                  <a:srgbClr val="14171C"/>
                </a:solidFill>
                <a:latin typeface="Space Grotesk"/>
              </a:rPr>
              <a:t>.</a:t>
            </a:r>
          </a:p>
        </p:txBody>
      </p:sp>
      <p:sp>
        <p:nvSpPr>
          <p:cNvPr id="8" name="Rounded Rectangle 7"/>
          <p:cNvSpPr/>
          <p:nvPr/>
        </p:nvSpPr>
        <p:spPr>
          <a:xfrm>
            <a:off x="758952" y="2240280"/>
            <a:ext cx="5108295" cy="3429000"/>
          </a:xfrm>
          <a:prstGeom prst="roundRect">
            <a:avLst>
              <a:gd name="adj" fmla="val 3500"/>
            </a:avLst>
          </a:prstGeom>
          <a:solidFill>
            <a:srgbClr val="FCFBF9"/>
          </a:solidFill>
          <a:ln w="13970">
            <a:solidFill>
              <a:srgbClr val="4F6E88"/>
            </a:solidFill>
          </a:ln>
          <a:effectLst/>
        </p:spPr>
        <p:txBody>
          <a:bodyPr rtlCol="0" anchor="ctr"/>
          <a:lstStyle/>
          <a:p>
            <a:pPr algn="ctr"/>
          </a:p>
        </p:txBody>
      </p:sp>
      <p:sp>
        <p:nvSpPr>
          <p:cNvPr id="9" name="Rounded Rectangle 8"/>
          <p:cNvSpPr/>
          <p:nvPr/>
        </p:nvSpPr>
        <p:spPr>
          <a:xfrm>
            <a:off x="1124712" y="2560320"/>
            <a:ext cx="1572768" cy="310896"/>
          </a:xfrm>
          <a:prstGeom prst="roundRect">
            <a:avLst>
              <a:gd name="adj" fmla="val 50000"/>
            </a:avLst>
          </a:prstGeom>
          <a:noFill/>
          <a:ln w="12700">
            <a:solidFill>
              <a:srgbClr val="4F6E88"/>
            </a:solidFill>
          </a:ln>
          <a:effectLst/>
        </p:spPr>
        <p:txBody>
          <a:bodyPr rtlCol="0" anchor="ctr" lIns="45720" rIns="45720" tIns="0" bIns="0" wrap="none"/>
          <a:lstStyle/>
          <a:p>
            <a:pPr algn="ctr"/>
            <a:r>
              <a:rPr sz="900" spc="200">
                <a:solidFill>
                  <a:srgbClr val="4F6E88"/>
                </a:solidFill>
                <a:latin typeface="Consolas"/>
              </a:rPr>
              <a:t>SCHRITT 1</a:t>
            </a:r>
          </a:p>
        </p:txBody>
      </p:sp>
      <p:sp>
        <p:nvSpPr>
          <p:cNvPr id="10" name="TextBox 9"/>
          <p:cNvSpPr txBox="1"/>
          <p:nvPr/>
        </p:nvSpPr>
        <p:spPr>
          <a:xfrm>
            <a:off x="1124712" y="3081528"/>
            <a:ext cx="4376775" cy="502920"/>
          </a:xfrm>
          <a:prstGeom prst="rect">
            <a:avLst/>
          </a:prstGeom>
          <a:noFill/>
        </p:spPr>
        <p:txBody>
          <a:bodyPr wrap="square" anchor="t" lIns="0" rIns="0" tIns="0" bIns="0">
            <a:spAutoFit/>
          </a:bodyPr>
          <a:lstStyle/>
          <a:p>
            <a:pPr algn="l"/>
            <a:r>
              <a:rPr sz="1700" b="1">
                <a:solidFill>
                  <a:srgbClr val="14171C"/>
                </a:solidFill>
                <a:latin typeface="Space Grotesk"/>
              </a:rPr>
              <a:t>Status-quo-Analyse (Digital-Check)</a:t>
            </a:r>
          </a:p>
        </p:txBody>
      </p:sp>
      <p:sp>
        <p:nvSpPr>
          <p:cNvPr id="11" name="TextBox 10"/>
          <p:cNvSpPr txBox="1"/>
          <p:nvPr/>
        </p:nvSpPr>
        <p:spPr>
          <a:xfrm>
            <a:off x="1124712" y="3630168"/>
            <a:ext cx="4376775" cy="1280160"/>
          </a:xfrm>
          <a:prstGeom prst="rect">
            <a:avLst/>
          </a:prstGeom>
          <a:noFill/>
        </p:spPr>
        <p:txBody>
          <a:bodyPr wrap="square" anchor="t" lIns="0" rIns="0" tIns="0" bIns="0">
            <a:spAutoFit/>
          </a:bodyPr>
          <a:lstStyle/>
          <a:p>
            <a:pPr algn="just">
              <a:lnSpc>
                <a:spcPct val="125000"/>
              </a:lnSpc>
              <a:spcBef>
                <a:spcPts val="0"/>
              </a:spcBef>
            </a:pPr>
            <a:r>
              <a:rPr sz="1200" b="0">
                <a:solidFill>
                  <a:srgbClr val="4A5058"/>
                </a:solidFill>
                <a:latin typeface="Space Grotesk"/>
              </a:rPr>
              <a:t>Ein Tag vor Ort in Ihrem Betrieb. Wir nehmen die Abläufe in Büro und Verwaltung auf. Danach haben Sie schwarz auf weiß, was sich bei Ihnen lohnt, was es kostet und was es bringt.</a:t>
            </a:r>
          </a:p>
        </p:txBody>
      </p:sp>
      <p:sp>
        <p:nvSpPr>
          <p:cNvPr id="12" name="TextBox 11"/>
          <p:cNvSpPr txBox="1"/>
          <p:nvPr/>
        </p:nvSpPr>
        <p:spPr>
          <a:xfrm>
            <a:off x="1124712" y="5001768"/>
            <a:ext cx="4376775" cy="457200"/>
          </a:xfrm>
          <a:prstGeom prst="rect">
            <a:avLst/>
          </a:prstGeom>
          <a:noFill/>
        </p:spPr>
        <p:txBody>
          <a:bodyPr wrap="square" anchor="t" lIns="0" rIns="0" tIns="0" bIns="0">
            <a:spAutoFit/>
          </a:bodyPr>
          <a:lstStyle/>
          <a:p>
            <a:pPr algn="l"/>
            <a:r>
              <a:rPr sz="1600" b="1">
                <a:solidFill>
                  <a:srgbClr val="4F6E88"/>
                </a:solidFill>
                <a:latin typeface="Space Grotesk"/>
              </a:rPr>
              <a:t>1.900 € netto</a:t>
            </a:r>
          </a:p>
        </p:txBody>
      </p:sp>
      <p:sp>
        <p:nvSpPr>
          <p:cNvPr id="13" name="Rounded Rectangle 12"/>
          <p:cNvSpPr/>
          <p:nvPr/>
        </p:nvSpPr>
        <p:spPr>
          <a:xfrm>
            <a:off x="6324447" y="2240280"/>
            <a:ext cx="5108295" cy="3429000"/>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14" name="Rounded Rectangle 13"/>
          <p:cNvSpPr/>
          <p:nvPr/>
        </p:nvSpPr>
        <p:spPr>
          <a:xfrm>
            <a:off x="6690207" y="2560320"/>
            <a:ext cx="1572768" cy="310896"/>
          </a:xfrm>
          <a:prstGeom prst="roundRect">
            <a:avLst>
              <a:gd name="adj" fmla="val 50000"/>
            </a:avLst>
          </a:prstGeom>
          <a:noFill/>
          <a:ln w="12700">
            <a:solidFill>
              <a:srgbClr val="4F6E88"/>
            </a:solidFill>
          </a:ln>
          <a:effectLst/>
        </p:spPr>
        <p:txBody>
          <a:bodyPr rtlCol="0" anchor="ctr" lIns="45720" rIns="45720" tIns="0" bIns="0" wrap="none"/>
          <a:lstStyle/>
          <a:p>
            <a:pPr algn="ctr"/>
            <a:r>
              <a:rPr sz="900" spc="200">
                <a:solidFill>
                  <a:srgbClr val="4F6E88"/>
                </a:solidFill>
                <a:latin typeface="Consolas"/>
              </a:rPr>
              <a:t>SCHRITT 2</a:t>
            </a:r>
          </a:p>
        </p:txBody>
      </p:sp>
      <p:sp>
        <p:nvSpPr>
          <p:cNvPr id="15" name="TextBox 14"/>
          <p:cNvSpPr txBox="1"/>
          <p:nvPr/>
        </p:nvSpPr>
        <p:spPr>
          <a:xfrm>
            <a:off x="6690207" y="3081528"/>
            <a:ext cx="4376775" cy="502920"/>
          </a:xfrm>
          <a:prstGeom prst="rect">
            <a:avLst/>
          </a:prstGeom>
          <a:noFill/>
        </p:spPr>
        <p:txBody>
          <a:bodyPr wrap="square" anchor="t" lIns="0" rIns="0" tIns="0" bIns="0">
            <a:spAutoFit/>
          </a:bodyPr>
          <a:lstStyle/>
          <a:p>
            <a:pPr algn="l"/>
            <a:r>
              <a:rPr sz="1700" b="1">
                <a:solidFill>
                  <a:srgbClr val="14171C"/>
                </a:solidFill>
                <a:latin typeface="Space Grotesk"/>
              </a:rPr>
              <a:t>Umsetzungsprojekt</a:t>
            </a:r>
          </a:p>
        </p:txBody>
      </p:sp>
      <p:sp>
        <p:nvSpPr>
          <p:cNvPr id="16" name="TextBox 15"/>
          <p:cNvSpPr txBox="1"/>
          <p:nvPr/>
        </p:nvSpPr>
        <p:spPr>
          <a:xfrm>
            <a:off x="6690207" y="3630168"/>
            <a:ext cx="4376775" cy="1280160"/>
          </a:xfrm>
          <a:prstGeom prst="rect">
            <a:avLst/>
          </a:prstGeom>
          <a:noFill/>
        </p:spPr>
        <p:txBody>
          <a:bodyPr wrap="square" anchor="t" lIns="0" rIns="0" tIns="0" bIns="0">
            <a:spAutoFit/>
          </a:bodyPr>
          <a:lstStyle/>
          <a:p>
            <a:pPr algn="just">
              <a:lnSpc>
                <a:spcPct val="125000"/>
              </a:lnSpc>
              <a:spcBef>
                <a:spcPts val="0"/>
              </a:spcBef>
            </a:pPr>
            <a:r>
              <a:rPr sz="1200" b="0">
                <a:solidFill>
                  <a:srgbClr val="4A5058"/>
                </a:solidFill>
                <a:latin typeface="Space Grotesk"/>
              </a:rPr>
              <a:t>Die Maßnahmen aus der Analyse werden eingerichtet und so lange angepasst, bis sie in Ihren Alltag passen. Digitalbonus und Antrag klären wir vorher gemeinsam.</a:t>
            </a:r>
          </a:p>
        </p:txBody>
      </p:sp>
      <p:sp>
        <p:nvSpPr>
          <p:cNvPr id="17" name="TextBox 16"/>
          <p:cNvSpPr txBox="1"/>
          <p:nvPr/>
        </p:nvSpPr>
        <p:spPr>
          <a:xfrm>
            <a:off x="6690207" y="5001768"/>
            <a:ext cx="4376775" cy="457200"/>
          </a:xfrm>
          <a:prstGeom prst="rect">
            <a:avLst/>
          </a:prstGeom>
          <a:noFill/>
        </p:spPr>
        <p:txBody>
          <a:bodyPr wrap="square" anchor="t" lIns="0" rIns="0" tIns="0" bIns="0">
            <a:spAutoFit/>
          </a:bodyPr>
          <a:lstStyle/>
          <a:p>
            <a:pPr algn="l"/>
            <a:r>
              <a:rPr sz="1600" b="1">
                <a:solidFill>
                  <a:srgbClr val="4F6E88"/>
                </a:solidFill>
                <a:latin typeface="Space Grotesk"/>
              </a:rPr>
              <a:t>ab 10.000 €, typisch 15.000 €</a:t>
            </a:r>
          </a:p>
        </p:txBody>
      </p:sp>
      <p:sp>
        <p:nvSpPr>
          <p:cNvPr id="18" name="TextBox 17"/>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7A8088"/>
                </a:solidFill>
                <a:latin typeface="Consolas"/>
              </a:rPr>
              <a:t>MAINFRANKEN DIGITAL</a:t>
            </a:r>
          </a:p>
        </p:txBody>
      </p:sp>
      <p:sp>
        <p:nvSpPr>
          <p:cNvPr id="19" name="TextBox 18"/>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7A8088"/>
                </a:solidFill>
                <a:latin typeface="Consolas"/>
              </a:rPr>
              <a:t>LEISTUNGSÜBERSICHT</a:t>
            </a:r>
          </a:p>
        </p:txBody>
      </p:sp>
      <p:sp>
        <p:nvSpPr>
          <p:cNvPr id="20" name="TextBox 19"/>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7A8088"/>
                </a:solidFill>
                <a:latin typeface="Consola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3F0"/>
        </a:solidFill>
        <a:effectLst/>
      </p:bgPr>
    </p:bg>
    <p:spTree>
      <p:nvGrpSpPr>
        <p:cNvPr id="1" name=""/>
        <p:cNvGrpSpPr/>
        <p:nvPr/>
      </p:nvGrpSpPr>
      <p:grpSpPr/>
      <p:cxnSp>
        <p:nvCxnSpPr>
          <p:cNvPr id="2" name="Connector 1"/>
          <p:cNvCxnSpPr/>
          <p:nvPr/>
        </p:nvCxnSpPr>
        <p:spPr>
          <a:xfrm>
            <a:off x="758952" y="672084"/>
            <a:ext cx="0" cy="100584"/>
          </a:xfrm>
          <a:prstGeom prst="line">
            <a:avLst/>
          </a:prstGeom>
          <a:ln w="12700">
            <a:solidFill>
              <a:srgbClr val="D9D7D2"/>
            </a:solidFill>
          </a:ln>
          <a:effectLst/>
        </p:spPr>
      </p:cxnSp>
      <p:cxnSp>
        <p:nvCxnSpPr>
          <p:cNvPr id="3" name="Connector 2"/>
          <p:cNvCxnSpPr/>
          <p:nvPr/>
        </p:nvCxnSpPr>
        <p:spPr>
          <a:xfrm>
            <a:off x="11432743" y="672084"/>
            <a:ext cx="0" cy="100584"/>
          </a:xfrm>
          <a:prstGeom prst="line">
            <a:avLst/>
          </a:prstGeom>
          <a:ln w="12700">
            <a:solidFill>
              <a:srgbClr val="D9D7D2"/>
            </a:solidFill>
          </a:ln>
          <a:effectLst/>
        </p:spPr>
      </p:cxnSp>
      <p:cxnSp>
        <p:nvCxnSpPr>
          <p:cNvPr id="4" name="Connector 3"/>
          <p:cNvCxnSpPr/>
          <p:nvPr/>
        </p:nvCxnSpPr>
        <p:spPr>
          <a:xfrm>
            <a:off x="758952" y="722376"/>
            <a:ext cx="4507077.5" cy="0"/>
          </a:xfrm>
          <a:prstGeom prst="line">
            <a:avLst/>
          </a:prstGeom>
          <a:ln w="12700">
            <a:solidFill>
              <a:srgbClr val="D9D7D2"/>
            </a:solidFill>
          </a:ln>
          <a:effectLst/>
        </p:spPr>
      </p:cxnSp>
      <p:cxnSp>
        <p:nvCxnSpPr>
          <p:cNvPr id="5" name="Connector 4"/>
          <p:cNvCxnSpPr/>
          <p:nvPr/>
        </p:nvCxnSpPr>
        <p:spPr>
          <a:xfrm>
            <a:off x="6925665.5" y="722376"/>
            <a:ext cx="4507077.5" cy="0"/>
          </a:xfrm>
          <a:prstGeom prst="line">
            <a:avLst/>
          </a:prstGeom>
          <a:ln w="12700">
            <a:solidFill>
              <a:srgbClr val="D9D7D2"/>
            </a:solidFill>
          </a:ln>
          <a:effectLst/>
        </p:spPr>
      </p:cxnSp>
      <p:sp>
        <p:nvSpPr>
          <p:cNvPr id="6" name="TextBox 5"/>
          <p:cNvSpPr txBox="1"/>
          <p:nvPr/>
        </p:nvSpPr>
        <p:spPr>
          <a:xfrm>
            <a:off x="5266029" y="621792"/>
            <a:ext cx="1659636" cy="274320"/>
          </a:xfrm>
          <a:prstGeom prst="rect">
            <a:avLst/>
          </a:prstGeom>
          <a:noFill/>
        </p:spPr>
        <p:txBody>
          <a:bodyPr wrap="square" anchor="t" lIns="0" rIns="0" tIns="0" bIns="0">
            <a:spAutoFit/>
          </a:bodyPr>
          <a:lstStyle/>
          <a:p>
            <a:pPr algn="ctr"/>
            <a:r>
              <a:rPr sz="1000" b="0" spc="300">
                <a:solidFill>
                  <a:srgbClr val="4F6E88"/>
                </a:solidFill>
                <a:latin typeface="Consolas"/>
              </a:rPr>
              <a:t>FÖRDERUNG</a:t>
            </a:r>
          </a:p>
        </p:txBody>
      </p:sp>
      <p:sp>
        <p:nvSpPr>
          <p:cNvPr id="7" name="TextBox 6"/>
          <p:cNvSpPr txBox="1"/>
          <p:nvPr/>
        </p:nvSpPr>
        <p:spPr>
          <a:xfrm>
            <a:off x="758952" y="1280160"/>
            <a:ext cx="10673791" cy="1463040"/>
          </a:xfrm>
          <a:prstGeom prst="rect">
            <a:avLst/>
          </a:prstGeom>
          <a:noFill/>
        </p:spPr>
        <p:txBody>
          <a:bodyPr wrap="square" anchor="t" lIns="0" rIns="0" tIns="0" bIns="0">
            <a:spAutoFit/>
          </a:bodyPr>
          <a:lstStyle/>
          <a:p>
            <a:pPr algn="l">
              <a:lnSpc>
                <a:spcPct val="102000"/>
              </a:lnSpc>
            </a:pPr>
            <a:r>
              <a:rPr sz="2700" b="1">
                <a:solidFill>
                  <a:srgbClr val="14171C"/>
                </a:solidFill>
                <a:latin typeface="Space Grotesk"/>
              </a:rPr>
              <a:t>DER DIGITALBONUS BAYERN ÜBERNIMMT BIS ZU </a:t>
            </a:r>
            <a:r>
              <a:rPr sz="2700" b="1">
                <a:solidFill>
                  <a:srgbClr val="4F6E88"/>
                </a:solidFill>
                <a:latin typeface="Space Grotesk"/>
              </a:rPr>
              <a:t>50 %</a:t>
            </a:r>
            <a:r>
              <a:rPr sz="2700" b="1">
                <a:solidFill>
                  <a:srgbClr val="14171C"/>
                </a:solidFill>
                <a:latin typeface="Space Grotesk"/>
              </a:rPr>
              <a:t>.</a:t>
            </a:r>
          </a:p>
        </p:txBody>
      </p:sp>
      <p:sp>
        <p:nvSpPr>
          <p:cNvPr id="8" name="TextBox 7"/>
          <p:cNvSpPr txBox="1"/>
          <p:nvPr/>
        </p:nvSpPr>
        <p:spPr>
          <a:xfrm>
            <a:off x="758952" y="2606040"/>
            <a:ext cx="2194560" cy="868680"/>
          </a:xfrm>
          <a:prstGeom prst="rect">
            <a:avLst/>
          </a:prstGeom>
          <a:noFill/>
        </p:spPr>
        <p:txBody>
          <a:bodyPr wrap="square" anchor="t" lIns="0" rIns="0" tIns="0" bIns="0">
            <a:spAutoFit/>
          </a:bodyPr>
          <a:lstStyle/>
          <a:p>
            <a:pPr algn="l"/>
            <a:r>
              <a:rPr sz="3400" b="1">
                <a:solidFill>
                  <a:srgbClr val="14171C"/>
                </a:solidFill>
                <a:latin typeface="Space Grotesk"/>
              </a:rPr>
              <a:t>50 %</a:t>
            </a:r>
          </a:p>
        </p:txBody>
      </p:sp>
      <p:sp>
        <p:nvSpPr>
          <p:cNvPr id="9" name="TextBox 8"/>
          <p:cNvSpPr txBox="1"/>
          <p:nvPr/>
        </p:nvSpPr>
        <p:spPr>
          <a:xfrm>
            <a:off x="758952" y="3447288"/>
            <a:ext cx="2194560" cy="457200"/>
          </a:xfrm>
          <a:prstGeom prst="rect">
            <a:avLst/>
          </a:prstGeom>
          <a:noFill/>
        </p:spPr>
        <p:txBody>
          <a:bodyPr wrap="square" anchor="t" lIns="0" rIns="0" tIns="0" bIns="0">
            <a:spAutoFit/>
          </a:bodyPr>
          <a:lstStyle/>
          <a:p>
            <a:pPr algn="l"/>
            <a:r>
              <a:rPr sz="1000" b="0" spc="200">
                <a:solidFill>
                  <a:srgbClr val="7A8088"/>
                </a:solidFill>
                <a:latin typeface="Consolas"/>
              </a:rPr>
              <a:t>DER PROJEKTKOSTEN</a:t>
            </a:r>
          </a:p>
        </p:txBody>
      </p:sp>
      <p:sp>
        <p:nvSpPr>
          <p:cNvPr id="10" name="TextBox 9"/>
          <p:cNvSpPr txBox="1"/>
          <p:nvPr/>
        </p:nvSpPr>
        <p:spPr>
          <a:xfrm>
            <a:off x="3090672" y="2606040"/>
            <a:ext cx="2194560" cy="868680"/>
          </a:xfrm>
          <a:prstGeom prst="rect">
            <a:avLst/>
          </a:prstGeom>
          <a:noFill/>
        </p:spPr>
        <p:txBody>
          <a:bodyPr wrap="square" anchor="t" lIns="0" rIns="0" tIns="0" bIns="0">
            <a:spAutoFit/>
          </a:bodyPr>
          <a:lstStyle/>
          <a:p>
            <a:pPr algn="l"/>
            <a:r>
              <a:rPr sz="3400" b="1">
                <a:solidFill>
                  <a:srgbClr val="14171C"/>
                </a:solidFill>
                <a:latin typeface="Space Grotesk"/>
              </a:rPr>
              <a:t>7.500 €</a:t>
            </a:r>
          </a:p>
        </p:txBody>
      </p:sp>
      <p:sp>
        <p:nvSpPr>
          <p:cNvPr id="11" name="TextBox 10"/>
          <p:cNvSpPr txBox="1"/>
          <p:nvPr/>
        </p:nvSpPr>
        <p:spPr>
          <a:xfrm>
            <a:off x="3090672" y="3447288"/>
            <a:ext cx="2194560" cy="457200"/>
          </a:xfrm>
          <a:prstGeom prst="rect">
            <a:avLst/>
          </a:prstGeom>
          <a:noFill/>
        </p:spPr>
        <p:txBody>
          <a:bodyPr wrap="square" anchor="t" lIns="0" rIns="0" tIns="0" bIns="0">
            <a:spAutoFit/>
          </a:bodyPr>
          <a:lstStyle/>
          <a:p>
            <a:pPr algn="l"/>
            <a:r>
              <a:rPr sz="1000" b="0" spc="200">
                <a:solidFill>
                  <a:srgbClr val="7A8088"/>
                </a:solidFill>
                <a:latin typeface="Consolas"/>
              </a:rPr>
              <a:t>HÖCHSTZUSCHUSS</a:t>
            </a:r>
          </a:p>
        </p:txBody>
      </p:sp>
      <p:sp>
        <p:nvSpPr>
          <p:cNvPr id="12" name="TextBox 11"/>
          <p:cNvSpPr txBox="1"/>
          <p:nvPr/>
        </p:nvSpPr>
        <p:spPr>
          <a:xfrm>
            <a:off x="5422392" y="2606040"/>
            <a:ext cx="2194560" cy="868680"/>
          </a:xfrm>
          <a:prstGeom prst="rect">
            <a:avLst/>
          </a:prstGeom>
          <a:noFill/>
        </p:spPr>
        <p:txBody>
          <a:bodyPr wrap="square" anchor="t" lIns="0" rIns="0" tIns="0" bIns="0">
            <a:spAutoFit/>
          </a:bodyPr>
          <a:lstStyle/>
          <a:p>
            <a:pPr algn="l"/>
            <a:r>
              <a:rPr sz="3400" b="1">
                <a:solidFill>
                  <a:srgbClr val="14171C"/>
                </a:solidFill>
                <a:latin typeface="Space Grotesk"/>
              </a:rPr>
              <a:t>4.000 €</a:t>
            </a:r>
          </a:p>
        </p:txBody>
      </p:sp>
      <p:sp>
        <p:nvSpPr>
          <p:cNvPr id="13" name="TextBox 12"/>
          <p:cNvSpPr txBox="1"/>
          <p:nvPr/>
        </p:nvSpPr>
        <p:spPr>
          <a:xfrm>
            <a:off x="5422392" y="3447288"/>
            <a:ext cx="2194560" cy="457200"/>
          </a:xfrm>
          <a:prstGeom prst="rect">
            <a:avLst/>
          </a:prstGeom>
          <a:noFill/>
        </p:spPr>
        <p:txBody>
          <a:bodyPr wrap="square" anchor="t" lIns="0" rIns="0" tIns="0" bIns="0">
            <a:spAutoFit/>
          </a:bodyPr>
          <a:lstStyle/>
          <a:p>
            <a:pPr algn="l"/>
            <a:r>
              <a:rPr sz="1000" b="0" spc="200">
                <a:solidFill>
                  <a:srgbClr val="7A8088"/>
                </a:solidFill>
                <a:latin typeface="Consolas"/>
              </a:rPr>
              <a:t>MINDESTVOLUMEN</a:t>
            </a:r>
          </a:p>
        </p:txBody>
      </p:sp>
      <p:sp>
        <p:nvSpPr>
          <p:cNvPr id="14" name="Rounded Rectangle 13"/>
          <p:cNvSpPr/>
          <p:nvPr/>
        </p:nvSpPr>
        <p:spPr>
          <a:xfrm>
            <a:off x="8074152" y="2377440"/>
            <a:ext cx="3358591" cy="2148840"/>
          </a:xfrm>
          <a:prstGeom prst="roundRect">
            <a:avLst>
              <a:gd name="adj" fmla="val 3500"/>
            </a:avLst>
          </a:prstGeom>
          <a:solidFill>
            <a:srgbClr val="FCFBF9"/>
          </a:solidFill>
          <a:ln w="13970">
            <a:solidFill>
              <a:srgbClr val="4F6E88"/>
            </a:solidFill>
          </a:ln>
          <a:effectLst/>
        </p:spPr>
        <p:txBody>
          <a:bodyPr rtlCol="0" anchor="ctr"/>
          <a:lstStyle/>
          <a:p>
            <a:pPr algn="ctr"/>
          </a:p>
        </p:txBody>
      </p:sp>
      <p:sp>
        <p:nvSpPr>
          <p:cNvPr id="15" name="TextBox 14"/>
          <p:cNvSpPr txBox="1"/>
          <p:nvPr/>
        </p:nvSpPr>
        <p:spPr>
          <a:xfrm>
            <a:off x="8394192" y="2651760"/>
            <a:ext cx="2718511" cy="1783080"/>
          </a:xfrm>
          <a:prstGeom prst="rect">
            <a:avLst/>
          </a:prstGeom>
          <a:noFill/>
        </p:spPr>
        <p:txBody>
          <a:bodyPr wrap="square" anchor="t" lIns="0" rIns="0" tIns="0" bIns="0">
            <a:spAutoFit/>
          </a:bodyPr>
          <a:lstStyle/>
          <a:p>
            <a:pPr algn="l"/>
            <a:r>
              <a:rPr sz="900" b="0" spc="220">
                <a:solidFill>
                  <a:srgbClr val="4F6E88"/>
                </a:solidFill>
                <a:latin typeface="Consolas"/>
              </a:rPr>
              <a:t>BEISPIELRECHNUNG</a:t>
            </a:r>
          </a:p>
          <a:p>
            <a:pPr algn="l">
              <a:spcBef>
                <a:spcPts val="1000"/>
              </a:spcBef>
            </a:pPr>
            <a:r>
              <a:rPr sz="1200" b="0">
                <a:solidFill>
                  <a:srgbClr val="4A5058"/>
                </a:solidFill>
                <a:latin typeface="Space Grotesk"/>
              </a:rPr>
              <a:t>Projekt 15.000 €</a:t>
            </a:r>
          </a:p>
          <a:p>
            <a:pPr algn="l">
              <a:spcBef>
                <a:spcPts val="400"/>
              </a:spcBef>
            </a:pPr>
            <a:r>
              <a:rPr sz="1500" b="1">
                <a:solidFill>
                  <a:srgbClr val="14171C"/>
                </a:solidFill>
                <a:latin typeface="Space Grotesk"/>
              </a:rPr>
              <a:t>Zuschuss 7.500 €</a:t>
            </a:r>
          </a:p>
          <a:p>
            <a:pPr algn="l">
              <a:spcBef>
                <a:spcPts val="200"/>
              </a:spcBef>
            </a:pPr>
            <a:r>
              <a:rPr sz="1500" b="1">
                <a:solidFill>
                  <a:srgbClr val="4F6E88"/>
                </a:solidFill>
                <a:latin typeface="Space Grotesk"/>
              </a:rPr>
              <a:t>Ihr Anteil 7.500 €</a:t>
            </a:r>
          </a:p>
        </p:txBody>
      </p:sp>
      <p:cxnSp>
        <p:nvCxnSpPr>
          <p:cNvPr id="16" name="Connector 15"/>
          <p:cNvCxnSpPr/>
          <p:nvPr/>
        </p:nvCxnSpPr>
        <p:spPr>
          <a:xfrm>
            <a:off x="758952" y="4892040"/>
            <a:ext cx="10673791" cy="0"/>
          </a:xfrm>
          <a:prstGeom prst="line">
            <a:avLst/>
          </a:prstGeom>
          <a:ln w="12700">
            <a:solidFill>
              <a:srgbClr val="D9D7D2"/>
            </a:solidFill>
          </a:ln>
          <a:effectLst/>
        </p:spPr>
      </p:cxnSp>
      <p:sp>
        <p:nvSpPr>
          <p:cNvPr id="17" name="TextBox 16"/>
          <p:cNvSpPr txBox="1"/>
          <p:nvPr/>
        </p:nvSpPr>
        <p:spPr>
          <a:xfrm>
            <a:off x="758952" y="5074920"/>
            <a:ext cx="8686800" cy="1097280"/>
          </a:xfrm>
          <a:prstGeom prst="rect">
            <a:avLst/>
          </a:prstGeom>
          <a:noFill/>
        </p:spPr>
        <p:txBody>
          <a:bodyPr wrap="square" anchor="t" lIns="0" rIns="0" tIns="0" bIns="0">
            <a:spAutoFit/>
          </a:bodyPr>
          <a:lstStyle/>
          <a:p>
            <a:pPr algn="l">
              <a:lnSpc>
                <a:spcPct val="125000"/>
              </a:lnSpc>
              <a:spcBef>
                <a:spcPts val="0"/>
              </a:spcBef>
            </a:pPr>
            <a:r>
              <a:rPr sz="1100" b="0">
                <a:solidFill>
                  <a:srgbClr val="4A5058"/>
                </a:solidFill>
                <a:latin typeface="Space Grotesk"/>
              </a:rPr>
              <a:t>Angaben ohne Gewähr; maßgeblich sind die aktuellen Bedingungen unter digitalbonus.bayern.de. Ob Ihr Betrieb die Voraussetzungen erfüllt und wie der Antrag läuft, klären wir im Erstgespräch.</a:t>
            </a:r>
          </a:p>
        </p:txBody>
      </p:sp>
      <p:sp>
        <p:nvSpPr>
          <p:cNvPr id="18" name="TextBox 17"/>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7A8088"/>
                </a:solidFill>
                <a:latin typeface="Consolas"/>
              </a:rPr>
              <a:t>MAINFRANKEN DIGITAL</a:t>
            </a:r>
          </a:p>
        </p:txBody>
      </p:sp>
      <p:sp>
        <p:nvSpPr>
          <p:cNvPr id="19" name="TextBox 18"/>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7A8088"/>
                </a:solidFill>
                <a:latin typeface="Consolas"/>
              </a:rPr>
              <a:t>LEISTUNGSÜBERSICHT</a:t>
            </a:r>
          </a:p>
        </p:txBody>
      </p:sp>
      <p:sp>
        <p:nvSpPr>
          <p:cNvPr id="20" name="TextBox 19"/>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7A8088"/>
                </a:solidFill>
                <a:latin typeface="Consola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3F0"/>
        </a:solidFill>
        <a:effectLst/>
      </p:bgPr>
    </p:bg>
    <p:spTree>
      <p:nvGrpSpPr>
        <p:cNvPr id="1" name=""/>
        <p:cNvGrpSpPr/>
        <p:nvPr/>
      </p:nvGrpSpPr>
      <p:grpSpPr/>
      <p:cxnSp>
        <p:nvCxnSpPr>
          <p:cNvPr id="2" name="Connector 1"/>
          <p:cNvCxnSpPr/>
          <p:nvPr/>
        </p:nvCxnSpPr>
        <p:spPr>
          <a:xfrm>
            <a:off x="758952" y="672084"/>
            <a:ext cx="0" cy="100584"/>
          </a:xfrm>
          <a:prstGeom prst="line">
            <a:avLst/>
          </a:prstGeom>
          <a:ln w="12700">
            <a:solidFill>
              <a:srgbClr val="D9D7D2"/>
            </a:solidFill>
          </a:ln>
          <a:effectLst/>
        </p:spPr>
      </p:cxnSp>
      <p:cxnSp>
        <p:nvCxnSpPr>
          <p:cNvPr id="3" name="Connector 2"/>
          <p:cNvCxnSpPr/>
          <p:nvPr/>
        </p:nvCxnSpPr>
        <p:spPr>
          <a:xfrm>
            <a:off x="11432743" y="672084"/>
            <a:ext cx="0" cy="100584"/>
          </a:xfrm>
          <a:prstGeom prst="line">
            <a:avLst/>
          </a:prstGeom>
          <a:ln w="12700">
            <a:solidFill>
              <a:srgbClr val="D9D7D2"/>
            </a:solidFill>
          </a:ln>
          <a:effectLst/>
        </p:spPr>
      </p:cxnSp>
      <p:cxnSp>
        <p:nvCxnSpPr>
          <p:cNvPr id="4" name="Connector 3"/>
          <p:cNvCxnSpPr/>
          <p:nvPr/>
        </p:nvCxnSpPr>
        <p:spPr>
          <a:xfrm>
            <a:off x="758952" y="722376"/>
            <a:ext cx="4664811.5" cy="0"/>
          </a:xfrm>
          <a:prstGeom prst="line">
            <a:avLst/>
          </a:prstGeom>
          <a:ln w="12700">
            <a:solidFill>
              <a:srgbClr val="D9D7D2"/>
            </a:solidFill>
          </a:ln>
          <a:effectLst/>
        </p:spPr>
      </p:cxnSp>
      <p:cxnSp>
        <p:nvCxnSpPr>
          <p:cNvPr id="5" name="Connector 4"/>
          <p:cNvCxnSpPr/>
          <p:nvPr/>
        </p:nvCxnSpPr>
        <p:spPr>
          <a:xfrm>
            <a:off x="6767931.5" y="722376"/>
            <a:ext cx="4664811.5" cy="0"/>
          </a:xfrm>
          <a:prstGeom prst="line">
            <a:avLst/>
          </a:prstGeom>
          <a:ln w="12700">
            <a:solidFill>
              <a:srgbClr val="D9D7D2"/>
            </a:solidFill>
          </a:ln>
          <a:effectLst/>
        </p:spPr>
      </p:cxnSp>
      <p:sp>
        <p:nvSpPr>
          <p:cNvPr id="6" name="TextBox 5"/>
          <p:cNvSpPr txBox="1"/>
          <p:nvPr/>
        </p:nvSpPr>
        <p:spPr>
          <a:xfrm>
            <a:off x="5423763" y="621792"/>
            <a:ext cx="1344168" cy="274320"/>
          </a:xfrm>
          <a:prstGeom prst="rect">
            <a:avLst/>
          </a:prstGeom>
          <a:noFill/>
        </p:spPr>
        <p:txBody>
          <a:bodyPr wrap="square" anchor="t" lIns="0" rIns="0" tIns="0" bIns="0">
            <a:spAutoFit/>
          </a:bodyPr>
          <a:lstStyle/>
          <a:p>
            <a:pPr algn="ctr"/>
            <a:r>
              <a:rPr sz="1000" b="0" spc="300">
                <a:solidFill>
                  <a:srgbClr val="4F6E88"/>
                </a:solidFill>
                <a:latin typeface="Consolas"/>
              </a:rPr>
              <a:t>ABLAUF</a:t>
            </a:r>
          </a:p>
        </p:txBody>
      </p:sp>
      <p:sp>
        <p:nvSpPr>
          <p:cNvPr id="7" name="TextBox 6"/>
          <p:cNvSpPr txBox="1"/>
          <p:nvPr/>
        </p:nvSpPr>
        <p:spPr>
          <a:xfrm>
            <a:off x="758952" y="1280160"/>
            <a:ext cx="10673791" cy="1463040"/>
          </a:xfrm>
          <a:prstGeom prst="rect">
            <a:avLst/>
          </a:prstGeom>
          <a:noFill/>
        </p:spPr>
        <p:txBody>
          <a:bodyPr wrap="square" anchor="t" lIns="0" rIns="0" tIns="0" bIns="0">
            <a:spAutoFit/>
          </a:bodyPr>
          <a:lstStyle/>
          <a:p>
            <a:pPr algn="l">
              <a:lnSpc>
                <a:spcPct val="102000"/>
              </a:lnSpc>
            </a:pPr>
            <a:r>
              <a:rPr sz="3000" b="1">
                <a:solidFill>
                  <a:srgbClr val="14171C"/>
                </a:solidFill>
                <a:latin typeface="Space Grotesk"/>
              </a:rPr>
              <a:t>VIER SCHRITTE BIS ZUM </a:t>
            </a:r>
            <a:r>
              <a:rPr sz="3000" b="1">
                <a:solidFill>
                  <a:srgbClr val="4F6E88"/>
                </a:solidFill>
                <a:latin typeface="Space Grotesk"/>
              </a:rPr>
              <a:t>FEIERABEND</a:t>
            </a:r>
            <a:r>
              <a:rPr sz="3000" b="1">
                <a:solidFill>
                  <a:srgbClr val="14171C"/>
                </a:solidFill>
                <a:latin typeface="Space Grotesk"/>
              </a:rPr>
              <a:t>.</a:t>
            </a:r>
          </a:p>
        </p:txBody>
      </p:sp>
      <p:sp>
        <p:nvSpPr>
          <p:cNvPr id="8" name="Rounded Rectangle 7"/>
          <p:cNvSpPr/>
          <p:nvPr/>
        </p:nvSpPr>
        <p:spPr>
          <a:xfrm>
            <a:off x="758952" y="2240280"/>
            <a:ext cx="2394127" cy="3017520"/>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9" name="TextBox 8"/>
          <p:cNvSpPr txBox="1"/>
          <p:nvPr/>
        </p:nvSpPr>
        <p:spPr>
          <a:xfrm>
            <a:off x="1033272" y="2514600"/>
            <a:ext cx="1845487" cy="640080"/>
          </a:xfrm>
          <a:prstGeom prst="rect">
            <a:avLst/>
          </a:prstGeom>
          <a:noFill/>
        </p:spPr>
        <p:txBody>
          <a:bodyPr wrap="square" anchor="t" lIns="0" rIns="0" tIns="0" bIns="0">
            <a:spAutoFit/>
          </a:bodyPr>
          <a:lstStyle/>
          <a:p>
            <a:pPr algn="l"/>
            <a:r>
              <a:rPr sz="2600" b="1">
                <a:solidFill>
                  <a:srgbClr val="4F6E88"/>
                </a:solidFill>
                <a:latin typeface="Consolas"/>
              </a:rPr>
              <a:t>01</a:t>
            </a:r>
          </a:p>
        </p:txBody>
      </p:sp>
      <p:sp>
        <p:nvSpPr>
          <p:cNvPr id="10" name="TextBox 9"/>
          <p:cNvSpPr txBox="1"/>
          <p:nvPr/>
        </p:nvSpPr>
        <p:spPr>
          <a:xfrm>
            <a:off x="1033272" y="3246120"/>
            <a:ext cx="1845487" cy="685800"/>
          </a:xfrm>
          <a:prstGeom prst="rect">
            <a:avLst/>
          </a:prstGeom>
          <a:noFill/>
        </p:spPr>
        <p:txBody>
          <a:bodyPr wrap="square" anchor="t" lIns="0" rIns="0" tIns="0" bIns="0">
            <a:spAutoFit/>
          </a:bodyPr>
          <a:lstStyle/>
          <a:p>
            <a:pPr algn="l"/>
            <a:r>
              <a:rPr sz="1350" b="1">
                <a:solidFill>
                  <a:srgbClr val="14171C"/>
                </a:solidFill>
                <a:latin typeface="Space Grotesk"/>
              </a:rPr>
              <a:t>Erstgespräch</a:t>
            </a:r>
          </a:p>
        </p:txBody>
      </p:sp>
      <p:sp>
        <p:nvSpPr>
          <p:cNvPr id="11" name="TextBox 10"/>
          <p:cNvSpPr txBox="1"/>
          <p:nvPr/>
        </p:nvSpPr>
        <p:spPr>
          <a:xfrm>
            <a:off x="1033272" y="3840480"/>
            <a:ext cx="1845487" cy="1325880"/>
          </a:xfrm>
          <a:prstGeom prst="rect">
            <a:avLst/>
          </a:prstGeom>
          <a:noFill/>
        </p:spPr>
        <p:txBody>
          <a:bodyPr wrap="square" anchor="t" lIns="0" rIns="0" tIns="0" bIns="0">
            <a:spAutoFit/>
          </a:bodyPr>
          <a:lstStyle/>
          <a:p>
            <a:pPr algn="l">
              <a:lnSpc>
                <a:spcPct val="125000"/>
              </a:lnSpc>
              <a:spcBef>
                <a:spcPts val="0"/>
              </a:spcBef>
            </a:pPr>
            <a:r>
              <a:rPr sz="1050" b="0">
                <a:solidFill>
                  <a:srgbClr val="4A5058"/>
                </a:solidFill>
                <a:latin typeface="Space Grotesk"/>
              </a:rPr>
              <a:t>Eine halbe Stunde, unverbindlich und kostenfrei. Sie erzählen, wo es klemmt.</a:t>
            </a:r>
          </a:p>
        </p:txBody>
      </p:sp>
      <p:sp>
        <p:nvSpPr>
          <p:cNvPr id="12" name="Rounded Rectangle 11"/>
          <p:cNvSpPr/>
          <p:nvPr/>
        </p:nvSpPr>
        <p:spPr>
          <a:xfrm>
            <a:off x="3518839" y="2240280"/>
            <a:ext cx="2394127" cy="3017520"/>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13" name="TextBox 12"/>
          <p:cNvSpPr txBox="1"/>
          <p:nvPr/>
        </p:nvSpPr>
        <p:spPr>
          <a:xfrm>
            <a:off x="3793159" y="2514600"/>
            <a:ext cx="1845487" cy="640080"/>
          </a:xfrm>
          <a:prstGeom prst="rect">
            <a:avLst/>
          </a:prstGeom>
          <a:noFill/>
        </p:spPr>
        <p:txBody>
          <a:bodyPr wrap="square" anchor="t" lIns="0" rIns="0" tIns="0" bIns="0">
            <a:spAutoFit/>
          </a:bodyPr>
          <a:lstStyle/>
          <a:p>
            <a:pPr algn="l"/>
            <a:r>
              <a:rPr sz="2600" b="1">
                <a:solidFill>
                  <a:srgbClr val="4F6E88"/>
                </a:solidFill>
                <a:latin typeface="Consolas"/>
              </a:rPr>
              <a:t>02</a:t>
            </a:r>
          </a:p>
        </p:txBody>
      </p:sp>
      <p:sp>
        <p:nvSpPr>
          <p:cNvPr id="14" name="TextBox 13"/>
          <p:cNvSpPr txBox="1"/>
          <p:nvPr/>
        </p:nvSpPr>
        <p:spPr>
          <a:xfrm>
            <a:off x="3793159" y="3246120"/>
            <a:ext cx="1845487" cy="685800"/>
          </a:xfrm>
          <a:prstGeom prst="rect">
            <a:avLst/>
          </a:prstGeom>
          <a:noFill/>
        </p:spPr>
        <p:txBody>
          <a:bodyPr wrap="square" anchor="t" lIns="0" rIns="0" tIns="0" bIns="0">
            <a:spAutoFit/>
          </a:bodyPr>
          <a:lstStyle/>
          <a:p>
            <a:pPr algn="l"/>
            <a:r>
              <a:rPr sz="1350" b="1">
                <a:solidFill>
                  <a:srgbClr val="14171C"/>
                </a:solidFill>
                <a:latin typeface="Space Grotesk"/>
              </a:rPr>
              <a:t>Digital-Check</a:t>
            </a:r>
          </a:p>
        </p:txBody>
      </p:sp>
      <p:sp>
        <p:nvSpPr>
          <p:cNvPr id="15" name="TextBox 14"/>
          <p:cNvSpPr txBox="1"/>
          <p:nvPr/>
        </p:nvSpPr>
        <p:spPr>
          <a:xfrm>
            <a:off x="3793159" y="3840480"/>
            <a:ext cx="1845487" cy="1325880"/>
          </a:xfrm>
          <a:prstGeom prst="rect">
            <a:avLst/>
          </a:prstGeom>
          <a:noFill/>
        </p:spPr>
        <p:txBody>
          <a:bodyPr wrap="square" anchor="t" lIns="0" rIns="0" tIns="0" bIns="0">
            <a:spAutoFit/>
          </a:bodyPr>
          <a:lstStyle/>
          <a:p>
            <a:pPr algn="l">
              <a:lnSpc>
                <a:spcPct val="125000"/>
              </a:lnSpc>
              <a:spcBef>
                <a:spcPts val="0"/>
              </a:spcBef>
            </a:pPr>
            <a:r>
              <a:rPr sz="1050" b="0">
                <a:solidFill>
                  <a:srgbClr val="4A5058"/>
                </a:solidFill>
                <a:latin typeface="Space Grotesk"/>
              </a:rPr>
              <a:t>Ein Tag vor Ort. Danach wissen Sie, was sich lohnt, was es kostet und was es bringt.</a:t>
            </a:r>
          </a:p>
        </p:txBody>
      </p:sp>
      <p:sp>
        <p:nvSpPr>
          <p:cNvPr id="16" name="Rounded Rectangle 15"/>
          <p:cNvSpPr/>
          <p:nvPr/>
        </p:nvSpPr>
        <p:spPr>
          <a:xfrm>
            <a:off x="6278727" y="2240280"/>
            <a:ext cx="2394127" cy="3017520"/>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17" name="TextBox 16"/>
          <p:cNvSpPr txBox="1"/>
          <p:nvPr/>
        </p:nvSpPr>
        <p:spPr>
          <a:xfrm>
            <a:off x="6553047" y="2514600"/>
            <a:ext cx="1845487" cy="640080"/>
          </a:xfrm>
          <a:prstGeom prst="rect">
            <a:avLst/>
          </a:prstGeom>
          <a:noFill/>
        </p:spPr>
        <p:txBody>
          <a:bodyPr wrap="square" anchor="t" lIns="0" rIns="0" tIns="0" bIns="0">
            <a:spAutoFit/>
          </a:bodyPr>
          <a:lstStyle/>
          <a:p>
            <a:pPr algn="l"/>
            <a:r>
              <a:rPr sz="2600" b="1">
                <a:solidFill>
                  <a:srgbClr val="4F6E88"/>
                </a:solidFill>
                <a:latin typeface="Consolas"/>
              </a:rPr>
              <a:t>03</a:t>
            </a:r>
          </a:p>
        </p:txBody>
      </p:sp>
      <p:sp>
        <p:nvSpPr>
          <p:cNvPr id="18" name="TextBox 17"/>
          <p:cNvSpPr txBox="1"/>
          <p:nvPr/>
        </p:nvSpPr>
        <p:spPr>
          <a:xfrm>
            <a:off x="6553047" y="3246120"/>
            <a:ext cx="1845487" cy="685800"/>
          </a:xfrm>
          <a:prstGeom prst="rect">
            <a:avLst/>
          </a:prstGeom>
          <a:noFill/>
        </p:spPr>
        <p:txBody>
          <a:bodyPr wrap="square" anchor="t" lIns="0" rIns="0" tIns="0" bIns="0">
            <a:spAutoFit/>
          </a:bodyPr>
          <a:lstStyle/>
          <a:p>
            <a:pPr algn="l"/>
            <a:r>
              <a:rPr sz="1350" b="1">
                <a:solidFill>
                  <a:srgbClr val="14171C"/>
                </a:solidFill>
                <a:latin typeface="Space Grotesk"/>
              </a:rPr>
              <a:t>Angebot und Antrag</a:t>
            </a:r>
          </a:p>
        </p:txBody>
      </p:sp>
      <p:sp>
        <p:nvSpPr>
          <p:cNvPr id="19" name="TextBox 18"/>
          <p:cNvSpPr txBox="1"/>
          <p:nvPr/>
        </p:nvSpPr>
        <p:spPr>
          <a:xfrm>
            <a:off x="6553047" y="3840480"/>
            <a:ext cx="1845487" cy="1325880"/>
          </a:xfrm>
          <a:prstGeom prst="rect">
            <a:avLst/>
          </a:prstGeom>
          <a:noFill/>
        </p:spPr>
        <p:txBody>
          <a:bodyPr wrap="square" anchor="t" lIns="0" rIns="0" tIns="0" bIns="0">
            <a:spAutoFit/>
          </a:bodyPr>
          <a:lstStyle/>
          <a:p>
            <a:pPr algn="l">
              <a:lnSpc>
                <a:spcPct val="125000"/>
              </a:lnSpc>
              <a:spcBef>
                <a:spcPts val="0"/>
              </a:spcBef>
            </a:pPr>
            <a:r>
              <a:rPr sz="1050" b="0">
                <a:solidFill>
                  <a:srgbClr val="4A5058"/>
                </a:solidFill>
                <a:latin typeface="Space Grotesk"/>
              </a:rPr>
              <a:t>Festes Angebot für die Umsetzung. Digitalbonus-Antrag klären wir vorher gemeinsam.</a:t>
            </a:r>
          </a:p>
        </p:txBody>
      </p:sp>
      <p:sp>
        <p:nvSpPr>
          <p:cNvPr id="20" name="Rounded Rectangle 19"/>
          <p:cNvSpPr/>
          <p:nvPr/>
        </p:nvSpPr>
        <p:spPr>
          <a:xfrm>
            <a:off x="9038615" y="2240280"/>
            <a:ext cx="2394127" cy="3017520"/>
          </a:xfrm>
          <a:prstGeom prst="roundRect">
            <a:avLst>
              <a:gd name="adj" fmla="val 3500"/>
            </a:avLst>
          </a:prstGeom>
          <a:solidFill>
            <a:srgbClr val="FCFBF9"/>
          </a:solidFill>
          <a:ln w="12700">
            <a:solidFill>
              <a:srgbClr val="D9D7D2"/>
            </a:solidFill>
          </a:ln>
          <a:effectLst/>
        </p:spPr>
        <p:txBody>
          <a:bodyPr rtlCol="0" anchor="ctr"/>
          <a:lstStyle/>
          <a:p>
            <a:pPr algn="ctr"/>
          </a:p>
        </p:txBody>
      </p:sp>
      <p:sp>
        <p:nvSpPr>
          <p:cNvPr id="21" name="TextBox 20"/>
          <p:cNvSpPr txBox="1"/>
          <p:nvPr/>
        </p:nvSpPr>
        <p:spPr>
          <a:xfrm>
            <a:off x="9312935" y="2514600"/>
            <a:ext cx="1845487" cy="640080"/>
          </a:xfrm>
          <a:prstGeom prst="rect">
            <a:avLst/>
          </a:prstGeom>
          <a:noFill/>
        </p:spPr>
        <p:txBody>
          <a:bodyPr wrap="square" anchor="t" lIns="0" rIns="0" tIns="0" bIns="0">
            <a:spAutoFit/>
          </a:bodyPr>
          <a:lstStyle/>
          <a:p>
            <a:pPr algn="l"/>
            <a:r>
              <a:rPr sz="2600" b="1">
                <a:solidFill>
                  <a:srgbClr val="4F6E88"/>
                </a:solidFill>
                <a:latin typeface="Consolas"/>
              </a:rPr>
              <a:t>04</a:t>
            </a:r>
          </a:p>
        </p:txBody>
      </p:sp>
      <p:sp>
        <p:nvSpPr>
          <p:cNvPr id="22" name="TextBox 21"/>
          <p:cNvSpPr txBox="1"/>
          <p:nvPr/>
        </p:nvSpPr>
        <p:spPr>
          <a:xfrm>
            <a:off x="9312935" y="3246120"/>
            <a:ext cx="1845487" cy="685800"/>
          </a:xfrm>
          <a:prstGeom prst="rect">
            <a:avLst/>
          </a:prstGeom>
          <a:noFill/>
        </p:spPr>
        <p:txBody>
          <a:bodyPr wrap="square" anchor="t" lIns="0" rIns="0" tIns="0" bIns="0">
            <a:spAutoFit/>
          </a:bodyPr>
          <a:lstStyle/>
          <a:p>
            <a:pPr algn="l"/>
            <a:r>
              <a:rPr sz="1350" b="1">
                <a:solidFill>
                  <a:srgbClr val="14171C"/>
                </a:solidFill>
                <a:latin typeface="Space Grotesk"/>
              </a:rPr>
              <a:t>Umsetzung</a:t>
            </a:r>
          </a:p>
        </p:txBody>
      </p:sp>
      <p:sp>
        <p:nvSpPr>
          <p:cNvPr id="23" name="TextBox 22"/>
          <p:cNvSpPr txBox="1"/>
          <p:nvPr/>
        </p:nvSpPr>
        <p:spPr>
          <a:xfrm>
            <a:off x="9312935" y="3840480"/>
            <a:ext cx="1845487" cy="1325880"/>
          </a:xfrm>
          <a:prstGeom prst="rect">
            <a:avLst/>
          </a:prstGeom>
          <a:noFill/>
        </p:spPr>
        <p:txBody>
          <a:bodyPr wrap="square" anchor="t" lIns="0" rIns="0" tIns="0" bIns="0">
            <a:spAutoFit/>
          </a:bodyPr>
          <a:lstStyle/>
          <a:p>
            <a:pPr algn="l">
              <a:lnSpc>
                <a:spcPct val="125000"/>
              </a:lnSpc>
              <a:spcBef>
                <a:spcPts val="0"/>
              </a:spcBef>
            </a:pPr>
            <a:r>
              <a:rPr sz="1050" b="0">
                <a:solidFill>
                  <a:srgbClr val="4A5058"/>
                </a:solidFill>
                <a:latin typeface="Space Grotesk"/>
              </a:rPr>
              <a:t>Einrichten, anpassen, einweisen. Ich bleibe erreichbar, wenn etwas hakt.</a:t>
            </a:r>
          </a:p>
        </p:txBody>
      </p:sp>
      <p:sp>
        <p:nvSpPr>
          <p:cNvPr id="24" name="TextBox 23"/>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7A8088"/>
                </a:solidFill>
                <a:latin typeface="Consolas"/>
              </a:rPr>
              <a:t>MAINFRANKEN DIGITAL</a:t>
            </a:r>
          </a:p>
        </p:txBody>
      </p:sp>
      <p:sp>
        <p:nvSpPr>
          <p:cNvPr id="25" name="TextBox 24"/>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7A8088"/>
                </a:solidFill>
                <a:latin typeface="Consolas"/>
              </a:rPr>
              <a:t>LEISTUNGSÜBERSICHT</a:t>
            </a:r>
          </a:p>
        </p:txBody>
      </p:sp>
      <p:sp>
        <p:nvSpPr>
          <p:cNvPr id="26" name="TextBox 25"/>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7A8088"/>
                </a:solidFill>
                <a:latin typeface="Consola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F12"/>
        </a:solidFill>
        <a:effectLst/>
      </p:bgPr>
    </p:bg>
    <p:spTree>
      <p:nvGrpSpPr>
        <p:cNvPr id="1" name=""/>
        <p:cNvGrpSpPr/>
        <p:nvPr/>
      </p:nvGrpSpPr>
      <p:grpSpPr/>
      <p:cxnSp>
        <p:nvCxnSpPr>
          <p:cNvPr id="2" name="Connector 1"/>
          <p:cNvCxnSpPr/>
          <p:nvPr/>
        </p:nvCxnSpPr>
        <p:spPr>
          <a:xfrm>
            <a:off x="758952" y="717804"/>
            <a:ext cx="0" cy="100584"/>
          </a:xfrm>
          <a:prstGeom prst="line">
            <a:avLst/>
          </a:prstGeom>
          <a:ln w="12700">
            <a:solidFill>
              <a:srgbClr val="2B2F36"/>
            </a:solidFill>
          </a:ln>
          <a:effectLst/>
        </p:spPr>
      </p:cxnSp>
      <p:cxnSp>
        <p:nvCxnSpPr>
          <p:cNvPr id="3" name="Connector 2"/>
          <p:cNvCxnSpPr/>
          <p:nvPr/>
        </p:nvCxnSpPr>
        <p:spPr>
          <a:xfrm>
            <a:off x="11432743" y="717804"/>
            <a:ext cx="0" cy="100584"/>
          </a:xfrm>
          <a:prstGeom prst="line">
            <a:avLst/>
          </a:prstGeom>
          <a:ln w="12700">
            <a:solidFill>
              <a:srgbClr val="2B2F36"/>
            </a:solidFill>
          </a:ln>
          <a:effectLst/>
        </p:spPr>
      </p:cxnSp>
      <p:cxnSp>
        <p:nvCxnSpPr>
          <p:cNvPr id="4" name="Connector 3"/>
          <p:cNvCxnSpPr/>
          <p:nvPr/>
        </p:nvCxnSpPr>
        <p:spPr>
          <a:xfrm>
            <a:off x="758952" y="768096"/>
            <a:ext cx="4612233.5" cy="0"/>
          </a:xfrm>
          <a:prstGeom prst="line">
            <a:avLst/>
          </a:prstGeom>
          <a:ln w="12700">
            <a:solidFill>
              <a:srgbClr val="2B2F36"/>
            </a:solidFill>
          </a:ln>
          <a:effectLst/>
        </p:spPr>
      </p:cxnSp>
      <p:cxnSp>
        <p:nvCxnSpPr>
          <p:cNvPr id="5" name="Connector 4"/>
          <p:cNvCxnSpPr/>
          <p:nvPr/>
        </p:nvCxnSpPr>
        <p:spPr>
          <a:xfrm>
            <a:off x="6820509.5" y="768096"/>
            <a:ext cx="4612233.5" cy="0"/>
          </a:xfrm>
          <a:prstGeom prst="line">
            <a:avLst/>
          </a:prstGeom>
          <a:ln w="12700">
            <a:solidFill>
              <a:srgbClr val="2B2F36"/>
            </a:solidFill>
          </a:ln>
          <a:effectLst/>
        </p:spPr>
      </p:cxnSp>
      <p:sp>
        <p:nvSpPr>
          <p:cNvPr id="6" name="TextBox 5"/>
          <p:cNvSpPr txBox="1"/>
          <p:nvPr/>
        </p:nvSpPr>
        <p:spPr>
          <a:xfrm>
            <a:off x="5371185" y="667512"/>
            <a:ext cx="1449324" cy="274320"/>
          </a:xfrm>
          <a:prstGeom prst="rect">
            <a:avLst/>
          </a:prstGeom>
          <a:noFill/>
        </p:spPr>
        <p:txBody>
          <a:bodyPr wrap="square" anchor="t" lIns="0" rIns="0" tIns="0" bIns="0">
            <a:spAutoFit/>
          </a:bodyPr>
          <a:lstStyle/>
          <a:p>
            <a:pPr algn="ctr"/>
            <a:r>
              <a:rPr sz="1000" b="0" spc="300">
                <a:solidFill>
                  <a:srgbClr val="8FA9BD"/>
                </a:solidFill>
                <a:latin typeface="Consolas"/>
              </a:rPr>
              <a:t>KONTAKT</a:t>
            </a:r>
          </a:p>
        </p:txBody>
      </p:sp>
      <p:sp>
        <p:nvSpPr>
          <p:cNvPr id="7" name="TextBox 6"/>
          <p:cNvSpPr txBox="1"/>
          <p:nvPr/>
        </p:nvSpPr>
        <p:spPr>
          <a:xfrm>
            <a:off x="758952" y="1417320"/>
            <a:ext cx="10673791" cy="1463040"/>
          </a:xfrm>
          <a:prstGeom prst="rect">
            <a:avLst/>
          </a:prstGeom>
          <a:noFill/>
        </p:spPr>
        <p:txBody>
          <a:bodyPr wrap="square" anchor="t" lIns="0" rIns="0" tIns="0" bIns="0">
            <a:spAutoFit/>
          </a:bodyPr>
          <a:lstStyle/>
          <a:p>
            <a:pPr algn="l">
              <a:lnSpc>
                <a:spcPct val="102000"/>
              </a:lnSpc>
            </a:pPr>
            <a:r>
              <a:rPr sz="3000" b="1">
                <a:solidFill>
                  <a:srgbClr val="E9E7E2"/>
                </a:solidFill>
                <a:latin typeface="Space Grotesk"/>
              </a:rPr>
              <a:t>DER NÄCHSTE SCHRITT IST EIN </a:t>
            </a:r>
            <a:r>
              <a:rPr sz="3000" b="1">
                <a:solidFill>
                  <a:srgbClr val="8FA9BD"/>
                </a:solidFill>
                <a:latin typeface="Space Grotesk"/>
              </a:rPr>
              <a:t>GESPRÄCH</a:t>
            </a:r>
            <a:r>
              <a:rPr sz="3000" b="1">
                <a:solidFill>
                  <a:srgbClr val="E9E7E2"/>
                </a:solidFill>
                <a:latin typeface="Space Grotesk"/>
              </a:rPr>
              <a:t>.</a:t>
            </a:r>
          </a:p>
        </p:txBody>
      </p:sp>
      <p:sp>
        <p:nvSpPr>
          <p:cNvPr id="8" name="Rounded Rectangle 7"/>
          <p:cNvSpPr/>
          <p:nvPr/>
        </p:nvSpPr>
        <p:spPr>
          <a:xfrm>
            <a:off x="758952" y="2423160"/>
            <a:ext cx="10673791" cy="2468880"/>
          </a:xfrm>
          <a:prstGeom prst="roundRect">
            <a:avLst>
              <a:gd name="adj" fmla="val 3500"/>
            </a:avLst>
          </a:prstGeom>
          <a:solidFill>
            <a:srgbClr val="14171C"/>
          </a:solidFill>
          <a:ln w="13970">
            <a:solidFill>
              <a:srgbClr val="8FA9BD"/>
            </a:solidFill>
          </a:ln>
          <a:effectLst/>
        </p:spPr>
        <p:txBody>
          <a:bodyPr rtlCol="0" anchor="ctr"/>
          <a:lstStyle/>
          <a:p>
            <a:pPr algn="ctr"/>
          </a:p>
        </p:txBody>
      </p:sp>
      <p:pic>
        <p:nvPicPr>
          <p:cNvPr id="9" name="Picture 8" descr="oliver-portraet.jpg"/>
          <p:cNvPicPr>
            <a:picLocks noChangeAspect="1"/>
          </p:cNvPicPr>
          <p:nvPr/>
        </p:nvPicPr>
        <p:blipFill>
          <a:blip r:embed="rId2"/>
          <a:stretch>
            <a:fillRect/>
          </a:stretch>
        </p:blipFill>
        <p:spPr>
          <a:xfrm>
            <a:off x="1216152" y="2880360"/>
            <a:ext cx="1554480" cy="1554480"/>
          </a:xfrm>
          <a:prstGeom prst="ellipse">
            <a:avLst/>
          </a:prstGeom>
          <a:ln w="19050">
            <a:solidFill>
              <a:srgbClr val="8FA9BD"/>
            </a:solidFill>
          </a:ln>
        </p:spPr>
      </p:pic>
      <p:sp>
        <p:nvSpPr>
          <p:cNvPr id="10" name="TextBox 9"/>
          <p:cNvSpPr txBox="1"/>
          <p:nvPr/>
        </p:nvSpPr>
        <p:spPr>
          <a:xfrm>
            <a:off x="3136392" y="2834640"/>
            <a:ext cx="4846320" cy="1920240"/>
          </a:xfrm>
          <a:prstGeom prst="rect">
            <a:avLst/>
          </a:prstGeom>
          <a:noFill/>
        </p:spPr>
        <p:txBody>
          <a:bodyPr wrap="square" anchor="t" lIns="0" rIns="0" tIns="0" bIns="0">
            <a:spAutoFit/>
          </a:bodyPr>
          <a:lstStyle/>
          <a:p>
            <a:pPr algn="l"/>
            <a:r>
              <a:rPr sz="1700" b="1">
                <a:solidFill>
                  <a:srgbClr val="E9E7E2"/>
                </a:solidFill>
                <a:latin typeface="Space Grotesk"/>
              </a:rPr>
              <a:t>Oliver Fieder</a:t>
            </a:r>
          </a:p>
          <a:p>
            <a:pPr algn="l">
              <a:spcBef>
                <a:spcPts val="200"/>
              </a:spcBef>
            </a:pPr>
            <a:r>
              <a:rPr sz="1100" b="0">
                <a:solidFill>
                  <a:srgbClr val="9AA0A8"/>
                </a:solidFill>
                <a:latin typeface="Space Grotesk"/>
              </a:rPr>
              <a:t>Gründer und Berater, Mainfranken Digital</a:t>
            </a:r>
          </a:p>
          <a:p>
            <a:pPr algn="l">
              <a:lnSpc>
                <a:spcPct val="125000"/>
              </a:lnSpc>
              <a:spcBef>
                <a:spcPts val="800"/>
              </a:spcBef>
            </a:pPr>
            <a:r>
              <a:rPr sz="1100" b="0">
                <a:solidFill>
                  <a:srgbClr val="A8AEB6"/>
                </a:solidFill>
                <a:latin typeface="Space Grotesk"/>
              </a:rPr>
              <a:t>Das Erstgespräch dauert eine halbe Stunde, ist kostenfrei und unverbindlich. Danach wissen Sie, ob sich Digitalisierung und KI für Ihren Betrieb lohnen.</a:t>
            </a:r>
          </a:p>
        </p:txBody>
      </p:sp>
      <p:sp>
        <p:nvSpPr>
          <p:cNvPr id="11" name="TextBox 10"/>
          <p:cNvSpPr txBox="1"/>
          <p:nvPr/>
        </p:nvSpPr>
        <p:spPr>
          <a:xfrm>
            <a:off x="8140903" y="2834640"/>
            <a:ext cx="2926080" cy="1188720"/>
          </a:xfrm>
          <a:prstGeom prst="rect">
            <a:avLst/>
          </a:prstGeom>
          <a:noFill/>
        </p:spPr>
        <p:txBody>
          <a:bodyPr wrap="square" anchor="t" lIns="0" rIns="0" tIns="0" bIns="0">
            <a:spAutoFit/>
          </a:bodyPr>
          <a:lstStyle/>
          <a:p>
            <a:pPr algn="l"/>
            <a:r>
              <a:rPr sz="1400" b="1">
                <a:solidFill>
                  <a:srgbClr val="E9E7E2"/>
                </a:solidFill>
                <a:latin typeface="Space Grotesk"/>
              </a:rPr>
              <a:t>0179 213 74 76</a:t>
            </a:r>
          </a:p>
          <a:p>
            <a:pPr algn="l">
              <a:spcBef>
                <a:spcPts val="400"/>
              </a:spcBef>
            </a:pPr>
            <a:r>
              <a:rPr sz="1100" b="0">
                <a:solidFill>
                  <a:srgbClr val="A8AEB6"/>
                </a:solidFill>
                <a:latin typeface="Space Grotesk"/>
              </a:rPr>
              <a:t>oliver@mainfranken-digital.de</a:t>
            </a:r>
          </a:p>
          <a:p>
            <a:pPr algn="l">
              <a:spcBef>
                <a:spcPts val="400"/>
              </a:spcBef>
            </a:pPr>
            <a:r>
              <a:rPr sz="1100" b="0">
                <a:solidFill>
                  <a:srgbClr val="A8AEB6"/>
                </a:solidFill>
                <a:latin typeface="Space Grotesk"/>
              </a:rPr>
              <a:t>Versbacher Straße 20 · 97078 Würzburg</a:t>
            </a:r>
          </a:p>
        </p:txBody>
      </p:sp>
      <p:sp>
        <p:nvSpPr>
          <p:cNvPr id="12" name="Rounded Rectangle 11">
            <a:hlinkClick r:id="rId3"/>
          </p:cNvPr>
          <p:cNvSpPr/>
          <p:nvPr/>
        </p:nvSpPr>
        <p:spPr>
          <a:xfrm>
            <a:off x="8140903" y="4069080"/>
            <a:ext cx="3383280" cy="475488"/>
          </a:xfrm>
          <a:prstGeom prst="roundRect">
            <a:avLst>
              <a:gd name="adj" fmla="val 50000"/>
            </a:avLst>
          </a:prstGeom>
          <a:solidFill>
            <a:srgbClr val="8FA9BD"/>
          </a:solidFill>
          <a:ln>
            <a:noFill/>
          </a:ln>
          <a:effectLst/>
        </p:spPr>
        <p:txBody>
          <a:bodyPr rtlCol="0" anchor="ctr" wrap="none"/>
          <a:lstStyle/>
          <a:p>
            <a:pPr algn="ctr"/>
            <a:r>
              <a:rPr sz="1200" b="1" spc="150">
                <a:solidFill>
                  <a:srgbClr val="0D0F12"/>
                </a:solidFill>
                <a:latin typeface="Space Grotesk"/>
              </a:rPr>
              <a:t>GESPRÄCH VEREINBAREN</a:t>
            </a:r>
          </a:p>
        </p:txBody>
      </p:sp>
      <p:sp>
        <p:nvSpPr>
          <p:cNvPr id="13" name="TextBox 12"/>
          <p:cNvSpPr txBox="1"/>
          <p:nvPr/>
        </p:nvSpPr>
        <p:spPr>
          <a:xfrm>
            <a:off x="758952" y="5166360"/>
            <a:ext cx="8229600" cy="1097280"/>
          </a:xfrm>
          <a:prstGeom prst="rect">
            <a:avLst/>
          </a:prstGeom>
          <a:noFill/>
        </p:spPr>
        <p:txBody>
          <a:bodyPr wrap="square" anchor="t" lIns="0" rIns="0" tIns="0" bIns="0">
            <a:spAutoFit/>
          </a:bodyPr>
          <a:lstStyle/>
          <a:p>
            <a:pPr algn="l">
              <a:lnSpc>
                <a:spcPct val="125000"/>
              </a:lnSpc>
              <a:spcBef>
                <a:spcPts val="0"/>
              </a:spcBef>
            </a:pPr>
            <a:r>
              <a:rPr sz="1000" b="0">
                <a:solidFill>
                  <a:srgbClr val="9AA0A8"/>
                </a:solidFill>
                <a:latin typeface="Space Grotesk"/>
              </a:rPr>
              <a:t>Diese Übersicht ist unverbindlich und kostenfrei. Ein Angebot im Rechtssinne erhalten Sie nach dem Erstgespräch.</a:t>
            </a:r>
          </a:p>
        </p:txBody>
      </p:sp>
      <p:sp>
        <p:nvSpPr>
          <p:cNvPr id="14" name="TextBox 13"/>
          <p:cNvSpPr txBox="1"/>
          <p:nvPr/>
        </p:nvSpPr>
        <p:spPr>
          <a:xfrm>
            <a:off x="758952" y="6473952"/>
            <a:ext cx="3657600" cy="274320"/>
          </a:xfrm>
          <a:prstGeom prst="rect">
            <a:avLst/>
          </a:prstGeom>
          <a:noFill/>
        </p:spPr>
        <p:txBody>
          <a:bodyPr wrap="square" anchor="t" lIns="0" rIns="0" tIns="0" bIns="0">
            <a:spAutoFit/>
          </a:bodyPr>
          <a:lstStyle/>
          <a:p>
            <a:pPr algn="l"/>
            <a:r>
              <a:rPr sz="800" b="0" spc="200">
                <a:solidFill>
                  <a:srgbClr val="9AA0A8"/>
                </a:solidFill>
                <a:latin typeface="Consolas"/>
              </a:rPr>
              <a:t>MAINFRANKEN DIGITAL</a:t>
            </a:r>
          </a:p>
        </p:txBody>
      </p:sp>
      <p:sp>
        <p:nvSpPr>
          <p:cNvPr id="15" name="TextBox 14"/>
          <p:cNvSpPr txBox="1"/>
          <p:nvPr/>
        </p:nvSpPr>
        <p:spPr>
          <a:xfrm>
            <a:off x="4114800" y="6473952"/>
            <a:ext cx="3962095" cy="274320"/>
          </a:xfrm>
          <a:prstGeom prst="rect">
            <a:avLst/>
          </a:prstGeom>
          <a:noFill/>
        </p:spPr>
        <p:txBody>
          <a:bodyPr wrap="square" anchor="t" lIns="0" rIns="0" tIns="0" bIns="0">
            <a:spAutoFit/>
          </a:bodyPr>
          <a:lstStyle/>
          <a:p>
            <a:pPr algn="ctr"/>
            <a:r>
              <a:rPr sz="800" b="0" spc="200">
                <a:solidFill>
                  <a:srgbClr val="9AA0A8"/>
                </a:solidFill>
                <a:latin typeface="Consolas"/>
              </a:rPr>
              <a:t>LEISTUNGSÜBERSICHT</a:t>
            </a:r>
          </a:p>
        </p:txBody>
      </p:sp>
      <p:sp>
        <p:nvSpPr>
          <p:cNvPr id="16" name="TextBox 15"/>
          <p:cNvSpPr txBox="1"/>
          <p:nvPr/>
        </p:nvSpPr>
        <p:spPr>
          <a:xfrm>
            <a:off x="10061143" y="6473952"/>
            <a:ext cx="1371600" cy="274320"/>
          </a:xfrm>
          <a:prstGeom prst="rect">
            <a:avLst/>
          </a:prstGeom>
          <a:noFill/>
        </p:spPr>
        <p:txBody>
          <a:bodyPr wrap="square" anchor="t" lIns="0" rIns="0" tIns="0" bIns="0">
            <a:spAutoFit/>
          </a:bodyPr>
          <a:lstStyle/>
          <a:p>
            <a:pPr algn="r"/>
            <a:r>
              <a:rPr sz="800" b="0" spc="200">
                <a:solidFill>
                  <a:srgbClr val="9AA0A8"/>
                </a:solidFill>
                <a:latin typeface="Consolas"/>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