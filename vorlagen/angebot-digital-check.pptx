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1-nachmitt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spc="150">
                <a:solidFill>
                  <a:srgbClr val="E9E7E2"/>
                </a:solidFill>
                <a:latin typeface="Space Grotesk"/>
              </a:rPr>
              <a:t>MAINFRANKEN </a:t>
            </a:r>
            <a:r>
              <a:rPr sz="1500" b="1" spc="150">
                <a:solidFill>
                  <a:srgbClr val="8FA9BD"/>
                </a:solidFill>
                <a:latin typeface="Space Grotesk"/>
              </a:rPr>
              <a:t>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920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spc="260">
                <a:solidFill>
                  <a:srgbClr val="8FA9BD"/>
                </a:solidFill>
                <a:latin typeface="Consolas"/>
              </a:rPr>
              <a:t>VERBINDLICHES ANGEBOT · NR. [JJJJ-NNN]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33172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E9E7E2"/>
                </a:solidFill>
                <a:latin typeface="Space Grotesk"/>
              </a:rPr>
              <a:t>STATUS-QUO-ANALYSE
</a:t>
            </a:r>
            <a:r>
              <a:rPr sz="4000" b="1">
                <a:solidFill>
                  <a:srgbClr val="8FA9BD"/>
                </a:solidFill>
                <a:latin typeface="Space Grotesk"/>
              </a:rPr>
              <a:t>DIGITAL-CHECK</a:t>
            </a:r>
            <a:r>
              <a:rPr sz="4000" b="1">
                <a:solidFill>
                  <a:srgbClr val="E9E7E2"/>
                </a:solidFill>
                <a:latin typeface="Space Grotesk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4114800"/>
            <a:ext cx="6858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260">
                <a:solidFill>
                  <a:srgbClr val="9AA0A8"/>
                </a:solidFill>
                <a:latin typeface="Consolas"/>
              </a:rPr>
              <a:t>FÜR</a:t>
            </a:r>
          </a:p>
          <a:p>
            <a:pPr algn="l">
              <a:spcBef>
                <a:spcPts val="600"/>
              </a:spcBef>
            </a:pPr>
            <a:r>
              <a:rPr sz="1500" b="1">
                <a:solidFill>
                  <a:srgbClr val="E9E7E2"/>
                </a:solidFill>
                <a:latin typeface="Space Grotesk"/>
              </a:rPr>
              <a:t>[Firma des Auftraggebers]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8AEB6"/>
                </a:solidFill>
                <a:latin typeface="Space Grotesk"/>
              </a:rPr>
              <a:t>[Straße Nr. · PLZ Ort]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A8AEB6"/>
                </a:solidFill>
                <a:latin typeface="Space Grotesk"/>
              </a:rPr>
              <a:t>z. Hd. [Vorname Nachname]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200">
                <a:solidFill>
                  <a:srgbClr val="9AA0A8"/>
                </a:solidFill>
                <a:latin typeface="Consolas"/>
              </a:rPr>
              <a:t>[TT.MM.JJJJ]  ·  GEBUNDEN BIS [TT.MM.JJJJ]  ·  FIEDER HANDELS GMBH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7178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432743" y="7178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58952" y="768096"/>
            <a:ext cx="4349343.5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083399.5" y="768096"/>
            <a:ext cx="4349343.5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08295" y="667512"/>
            <a:ext cx="1975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300">
                <a:solidFill>
                  <a:srgbClr val="8FA9BD"/>
                </a:solidFill>
                <a:latin typeface="Consolas"/>
              </a:rPr>
              <a:t>AUSGANGSLAGE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41732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E9E7E2"/>
                </a:solidFill>
                <a:latin typeface="Space Grotesk"/>
              </a:rPr>
              <a:t>WAS DIE ANALYSE </a:t>
            </a:r>
            <a:r>
              <a:rPr sz="3200" b="1">
                <a:solidFill>
                  <a:srgbClr val="8FA9BD"/>
                </a:solidFill>
                <a:latin typeface="Space Grotesk"/>
              </a:rPr>
              <a:t>KLÄREN SOLL</a:t>
            </a:r>
            <a:r>
              <a:rPr sz="3200" b="1">
                <a:solidFill>
                  <a:srgbClr val="E9E7E2"/>
                </a:solidFill>
                <a:latin typeface="Space Grotesk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77440"/>
            <a:ext cx="84124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just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A8AEB6"/>
                </a:solidFill>
                <a:latin typeface="Space Grotesk"/>
              </a:rPr>
              <a:t>[Aus dem Erstgespräch am TT.MM.: Die Angebots- und Rechnungsstellung läuft handschriftlich bzw. verstreut über mehrere Systeme; die Ablage kostet spürbar Zeit. Die Analyse soll klären, welche Abläufe sich mit welchem Aufwand digitalisieren lassen.]</a:t>
            </a:r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A8AEB6"/>
                </a:solidFill>
                <a:latin typeface="Space Grotesk"/>
              </a:rPr>
              <a:t>Ziel der Status-quo-Analyse: ein belastbares Bild Ihrer Abläufe in Büro und Verwaltung, eine priorisierte Maßnahmenliste mit Aufwands- und Nutzenschätzung sowie eine Einschätzung, welche Maßnahmen über den Digitalbonus Bayern förderfähig sind. Danach können Sie fundiert entscheiden, ob und was Sie umsetzen.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9AA0A8"/>
                </a:solidFill>
                <a:latin typeface="Consolas"/>
              </a:rPr>
              <a:t>MAINFRANKEN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9AA0A8"/>
                </a:solidFill>
                <a:latin typeface="Consolas"/>
              </a:rPr>
              <a:t>ANGEBOT STATUS-QUO-ANALYSE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9AA0A8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7178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432743" y="7178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58952" y="768096"/>
            <a:ext cx="4191609.5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241133.5" y="768096"/>
            <a:ext cx="4191609.5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0561" y="667512"/>
            <a:ext cx="22905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300">
                <a:solidFill>
                  <a:srgbClr val="8FA9BD"/>
                </a:solidFill>
                <a:latin typeface="Consolas"/>
              </a:rPr>
              <a:t>LEISTUNGSUMFANG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41732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E9E7E2"/>
                </a:solidFill>
                <a:latin typeface="Space Grotesk"/>
              </a:rPr>
              <a:t>WAS IM DIGITAL-CHECK </a:t>
            </a:r>
            <a:r>
              <a:rPr sz="3200" b="1">
                <a:solidFill>
                  <a:srgbClr val="8FA9BD"/>
                </a:solidFill>
                <a:latin typeface="Space Grotesk"/>
              </a:rPr>
              <a:t>DRINSTECKT</a:t>
            </a:r>
            <a:r>
              <a:rPr sz="3200" b="1">
                <a:solidFill>
                  <a:srgbClr val="E9E7E2"/>
                </a:solidFill>
                <a:latin typeface="Space Grotesk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331720"/>
            <a:ext cx="2394127" cy="3246120"/>
          </a:xfrm>
          <a:prstGeom prst="roundRect">
            <a:avLst>
              <a:gd name="adj" fmla="val 3500"/>
            </a:avLst>
          </a:prstGeom>
          <a:solidFill>
            <a:srgbClr val="14171C"/>
          </a:solidFill>
          <a:ln w="12700">
            <a:solidFill>
              <a:srgbClr val="2B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606040"/>
            <a:ext cx="18454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8FA9BD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337560"/>
            <a:ext cx="184548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9E7E2"/>
                </a:solidFill>
                <a:latin typeface="Space Grotesk"/>
              </a:rPr>
              <a:t>Vorbereitung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904488"/>
            <a:ext cx="184548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>
                <a:solidFill>
                  <a:srgbClr val="A8AEB6"/>
                </a:solidFill>
                <a:latin typeface="Space Grotesk"/>
              </a:rPr>
              <a:t>Kurzfragebogen vorab und Sichtung vorhandener Unterlagen und Systeme.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8839" y="2331720"/>
            <a:ext cx="2394127" cy="3246120"/>
          </a:xfrm>
          <a:prstGeom prst="roundRect">
            <a:avLst>
              <a:gd name="adj" fmla="val 3500"/>
            </a:avLst>
          </a:prstGeom>
          <a:solidFill>
            <a:srgbClr val="14171C"/>
          </a:solidFill>
          <a:ln w="12700">
            <a:solidFill>
              <a:srgbClr val="2B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3159" y="2606040"/>
            <a:ext cx="18454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8FA9BD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3159" y="3337560"/>
            <a:ext cx="184548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9E7E2"/>
                </a:solidFill>
                <a:latin typeface="Space Grotesk"/>
              </a:rPr>
              <a:t>Analysetag vor 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3159" y="3904488"/>
            <a:ext cx="184548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>
                <a:solidFill>
                  <a:srgbClr val="A8AEB6"/>
                </a:solidFill>
                <a:latin typeface="Space Grotesk"/>
              </a:rPr>
              <a:t>Ein Tag in Ihrem Betrieb (nach gemeinsamer Terminabstimmung): Aufnahme der Abläufe in Büro und Verwaltung, Gespräche mit den Beteiligten.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31720"/>
            <a:ext cx="2394127" cy="3246120"/>
          </a:xfrm>
          <a:prstGeom prst="roundRect">
            <a:avLst>
              <a:gd name="adj" fmla="val 3500"/>
            </a:avLst>
          </a:prstGeom>
          <a:solidFill>
            <a:srgbClr val="14171C"/>
          </a:solidFill>
          <a:ln w="12700">
            <a:solidFill>
              <a:srgbClr val="2B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047" y="2606040"/>
            <a:ext cx="18454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8FA9BD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47" y="3337560"/>
            <a:ext cx="184548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9E7E2"/>
                </a:solidFill>
                <a:latin typeface="Space Grotesk"/>
              </a:rPr>
              <a:t>Ergebnisbericht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3904488"/>
            <a:ext cx="184548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>
                <a:solidFill>
                  <a:srgbClr val="A8AEB6"/>
                </a:solidFill>
                <a:latin typeface="Space Grotesk"/>
              </a:rPr>
              <a:t>Schriftlich: Ist-Aufnahme, priorisierte Maßnahmen mit Aufwands- und Nutzenschätzung, Einschätzung zur Förderfähigkeit.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8615" y="2331720"/>
            <a:ext cx="2394127" cy="3246120"/>
          </a:xfrm>
          <a:prstGeom prst="roundRect">
            <a:avLst>
              <a:gd name="adj" fmla="val 3500"/>
            </a:avLst>
          </a:prstGeom>
          <a:solidFill>
            <a:srgbClr val="14171C"/>
          </a:solidFill>
          <a:ln w="12700">
            <a:solidFill>
              <a:srgbClr val="2B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12935" y="2606040"/>
            <a:ext cx="18454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8FA9BD"/>
                </a:solidFill>
                <a:latin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2935" y="3337560"/>
            <a:ext cx="184548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9E7E2"/>
                </a:solidFill>
                <a:latin typeface="Space Grotesk"/>
              </a:rPr>
              <a:t>Ergebnisgespräch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2935" y="3904488"/>
            <a:ext cx="184548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>
                <a:solidFill>
                  <a:srgbClr val="A8AEB6"/>
                </a:solidFill>
                <a:latin typeface="Space Grotesk"/>
              </a:rPr>
              <a:t>Rund 60 Minuten, vor Ort oder online: Bericht durchgehen, Fragen klären, mögliche nächste Schritte.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9AA0A8"/>
                </a:solidFill>
                <a:latin typeface="Consolas"/>
              </a:rPr>
              <a:t>MAINFRANKEN DIGITAL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9AA0A8"/>
                </a:solidFill>
                <a:latin typeface="Consolas"/>
              </a:rPr>
              <a:t>ANGEBOT STATUS-QUO-ANALYSE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9AA0A8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7178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432743" y="7178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58952" y="768096"/>
            <a:ext cx="4507077.5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925665.5" y="768096"/>
            <a:ext cx="4507077.5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66029" y="667512"/>
            <a:ext cx="16596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300">
                <a:solidFill>
                  <a:srgbClr val="8FA9BD"/>
                </a:solidFill>
                <a:latin typeface="Consolas"/>
              </a:rPr>
              <a:t>VERGÜTUNG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41732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E9E7E2"/>
                </a:solidFill>
                <a:latin typeface="Space Grotesk"/>
              </a:rPr>
              <a:t>EIN FESTER PREIS, KEINE </a:t>
            </a:r>
            <a:r>
              <a:rPr sz="3200" b="1">
                <a:solidFill>
                  <a:srgbClr val="8FA9BD"/>
                </a:solidFill>
                <a:latin typeface="Space Grotesk"/>
              </a:rPr>
              <a:t>ÜBERRASCHUNGEN</a:t>
            </a:r>
            <a:r>
              <a:rPr sz="3200" b="1">
                <a:solidFill>
                  <a:srgbClr val="E9E7E2"/>
                </a:solidFill>
                <a:latin typeface="Space Grotesk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58952" y="2468880"/>
            <a:ext cx="10673791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58952" y="2633472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00">
                <a:solidFill>
                  <a:srgbClr val="8FA9BD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26060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9E7E2"/>
                </a:solidFill>
                <a:latin typeface="Space Grotesk"/>
              </a:rPr>
              <a:t>Status-quo-Analyse (Digital-Check), pauschal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6663" y="26060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E9E7E2"/>
                </a:solidFill>
                <a:latin typeface="Space Grotesk"/>
              </a:rPr>
              <a:t>1.900 €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58952" y="3035808"/>
            <a:ext cx="10673791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58952" y="32004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00">
                <a:solidFill>
                  <a:srgbClr val="8FA9BD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172968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9E7E2"/>
                </a:solidFill>
                <a:latin typeface="Space Grotesk"/>
              </a:rPr>
              <a:t>An- und Abreise sowie Nebenkosten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6663" y="317296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E9E7E2"/>
                </a:solidFill>
                <a:latin typeface="Space Grotesk"/>
              </a:rPr>
              <a:t>[inklusive / nach Aufwand]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8952" y="3602736"/>
            <a:ext cx="10673791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581912" y="3739896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9E7E2"/>
                </a:solidFill>
                <a:latin typeface="Space Grotesk"/>
              </a:rPr>
              <a:t>Umsatzsteuer 19 %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6663" y="373989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E9E7E2"/>
                </a:solidFill>
                <a:latin typeface="Space Grotesk"/>
              </a:rPr>
              <a:t>361 €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8952" y="4169664"/>
            <a:ext cx="10673791" cy="0"/>
          </a:xfrm>
          <a:prstGeom prst="line">
            <a:avLst/>
          </a:prstGeom>
          <a:ln w="15240">
            <a:solidFill>
              <a:srgbClr val="8FA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81912" y="4334256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9E7E2"/>
                </a:solidFill>
                <a:latin typeface="Space Grotesk"/>
              </a:rPr>
              <a:t>Gesamt brutto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6663" y="43068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700" b="1">
                <a:solidFill>
                  <a:srgbClr val="8FA9BD"/>
                </a:solidFill>
                <a:latin typeface="Space Grotesk"/>
              </a:rPr>
              <a:t>2.261 €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4946904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A8AEB6"/>
                </a:solidFill>
                <a:latin typeface="Space Grotesk"/>
              </a:rPr>
              <a:t>Der Digital-Check ist bewusst so geschnitten, dass er für sich steht: Sie erhalten ein Ergebnis, mit dem Sie auch ohne Folgeauftrag arbeiten können. Ein späteres Umsetzungsprojekt wird separat angeboten (ab 10.000 €, mit Digitalbonus Bayern bis zu 50 % gefördert).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9AA0A8"/>
                </a:solidFill>
                <a:latin typeface="Consolas"/>
              </a:rPr>
              <a:t>MAINFRANKEN DIGITAL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9AA0A8"/>
                </a:solidFill>
                <a:latin typeface="Consolas"/>
              </a:rPr>
              <a:t>ANGEBOT STATUS-QUO-ANALYSE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9AA0A8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7178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432743" y="7178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58952" y="768096"/>
            <a:ext cx="4401921.5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030821.5" y="768096"/>
            <a:ext cx="4401921.5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60873" y="667512"/>
            <a:ext cx="18699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300">
                <a:solidFill>
                  <a:srgbClr val="8FA9BD"/>
                </a:solidFill>
                <a:latin typeface="Consolas"/>
              </a:rPr>
              <a:t>KONDITIONEN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32588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E9E7E2"/>
                </a:solidFill>
                <a:latin typeface="Space Grotesk"/>
              </a:rPr>
              <a:t>KONDITIONEN UND </a:t>
            </a:r>
            <a:r>
              <a:rPr sz="2800" b="1">
                <a:solidFill>
                  <a:srgbClr val="8FA9BD"/>
                </a:solidFill>
                <a:latin typeface="Space Grotesk"/>
              </a:rPr>
              <a:t>ANNAHME</a:t>
            </a:r>
            <a:r>
              <a:rPr sz="2800" b="1">
                <a:solidFill>
                  <a:srgbClr val="E9E7E2"/>
                </a:solidFill>
                <a:latin typeface="Space Grotesk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03120"/>
            <a:ext cx="5852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just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A8AEB6"/>
                </a:solidFill>
                <a:latin typeface="Space Grotesk"/>
              </a:rPr>
              <a:t>Bindefrist: An dieses Angebot halten wir uns bis zum [TT.MM.JJJJ] gebunden.</a:t>
            </a:r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A8AEB6"/>
                </a:solidFill>
                <a:latin typeface="Space Grotesk"/>
              </a:rPr>
              <a:t>Terminierung: Der Analysetag wird nach Beauftragung gemeinsam festgelegt; Verschiebungen sind bis 5 Werktage vorher kostenfrei.</a:t>
            </a:r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A8AEB6"/>
                </a:solidFill>
                <a:latin typeface="Space Grotesk"/>
              </a:rPr>
              <a:t>Zahlung: Rechnung nach dem Ergebnisgespräch, zahlbar innerhalb von 14 Tagen ohne Abzug.</a:t>
            </a:r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A8AEB6"/>
                </a:solidFill>
                <a:latin typeface="Space Grotesk"/>
              </a:rPr>
              <a:t>Mitwirkung: Am Analysetag stehen Räume, Unterlagen und die relevanten Ansprechpartner zur Verfügung.</a:t>
            </a:r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A8AEB6"/>
                </a:solidFill>
                <a:latin typeface="Space Grotesk"/>
              </a:rPr>
              <a:t>Vertraulichkeit: Beide Seiten behandeln alle im Projekt erlangten Informationen vertraulich.</a:t>
            </a:r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A8AEB6"/>
                </a:solidFill>
                <a:latin typeface="Space Grotesk"/>
              </a:rPr>
              <a:t>Annahme: Durch Gegenzeichnung dieses Angebots oder Bestätigung in Textform (E-Mail genügt).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5074920"/>
            <a:ext cx="5852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A8AEB6"/>
                </a:solidFill>
                <a:latin typeface="Space Grotesk"/>
              </a:rPr>
              <a:t>Fieder Handels GmbH · Versbacher Straße 20 · 97078 Würzburg · Amtsgericht Würzburg, HRB 17397 · Geschäftsführer: Oliver Fieder · USt-ID DE3370133371 · Telefon 0179 213 74 76 · oliver@mainfranken-digital.de. „Mainfranken Digital“ ist ein Angebot der Fieder Handels GmbH.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09383" y="3200400"/>
            <a:ext cx="4023360" cy="0"/>
          </a:xfrm>
          <a:prstGeom prst="line">
            <a:avLst/>
          </a:prstGeom>
          <a:ln w="12700">
            <a:solidFill>
              <a:srgbClr val="A8AE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09383" y="3291840"/>
            <a:ext cx="4023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0A8"/>
                </a:solidFill>
                <a:latin typeface="Space Grotesk"/>
              </a:rPr>
              <a:t>Ort, Datum · [Firma des Auftraggebers] (Auftraggeber)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09383" y="4709160"/>
            <a:ext cx="4023360" cy="0"/>
          </a:xfrm>
          <a:prstGeom prst="line">
            <a:avLst/>
          </a:prstGeom>
          <a:ln w="12700">
            <a:solidFill>
              <a:srgbClr val="A8AE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09383" y="4800600"/>
            <a:ext cx="4023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0A8"/>
                </a:solidFill>
                <a:latin typeface="Space Grotesk"/>
              </a:rPr>
              <a:t>Würzburg, [TT.MM.JJJJ] · Fieder Handels GmbH, Oliver Fieder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9AA0A8"/>
                </a:solidFill>
                <a:latin typeface="Consolas"/>
              </a:rPr>
              <a:t>MAINFRANKEN DIGITAL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9AA0A8"/>
                </a:solidFill>
                <a:latin typeface="Consolas"/>
              </a:rPr>
              <a:t>ANGEBOT STATUS-QUO-ANALYSE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9AA0A8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