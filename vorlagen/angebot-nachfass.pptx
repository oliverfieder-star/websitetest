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calendly.com/oliver2004-fieder/30mi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pic>
        <p:nvPicPr>
          <p:cNvPr id="2" name="Picture 1" descr="k4-buero-nacht.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D0F12">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502920"/>
            <a:ext cx="7315200" cy="365760"/>
          </a:xfrm>
          <a:prstGeom prst="rect">
            <a:avLst/>
          </a:prstGeom>
          <a:noFill/>
        </p:spPr>
        <p:txBody>
          <a:bodyPr wrap="square" anchor="t" lIns="0" rIns="0" tIns="0" bIns="0">
            <a:spAutoFit/>
          </a:bodyPr>
          <a:lstStyle/>
          <a:p>
            <a:pPr algn="l"/>
            <a:r>
              <a:rPr sz="1500" b="1" spc="150">
                <a:solidFill>
                  <a:srgbClr val="E9E7E2"/>
                </a:solidFill>
                <a:latin typeface="Space Grotesk"/>
              </a:rPr>
              <a:t>MAINFRANKEN </a:t>
            </a:r>
            <a:r>
              <a:rPr sz="1500" b="1" spc="150">
                <a:solidFill>
                  <a:srgbClr val="8FA9BD"/>
                </a:solidFill>
                <a:latin typeface="Space Grotesk"/>
              </a:rPr>
              <a:t>DIGITAL</a:t>
            </a:r>
          </a:p>
        </p:txBody>
      </p:sp>
      <p:sp>
        <p:nvSpPr>
          <p:cNvPr id="5" name="TextBox 4"/>
          <p:cNvSpPr txBox="1"/>
          <p:nvPr/>
        </p:nvSpPr>
        <p:spPr>
          <a:xfrm>
            <a:off x="758952" y="2240280"/>
            <a:ext cx="5486400" cy="320040"/>
          </a:xfrm>
          <a:prstGeom prst="rect">
            <a:avLst/>
          </a:prstGeom>
          <a:noFill/>
        </p:spPr>
        <p:txBody>
          <a:bodyPr wrap="square" anchor="t" lIns="0" rIns="0" tIns="0" bIns="0">
            <a:spAutoFit/>
          </a:bodyPr>
          <a:lstStyle/>
          <a:p>
            <a:pPr algn="l"/>
            <a:r>
              <a:rPr sz="1100" b="0" spc="260">
                <a:solidFill>
                  <a:srgbClr val="8FA9BD"/>
                </a:solidFill>
                <a:latin typeface="Consolas"/>
              </a:rPr>
              <a:t>ANGEBOT ZUR ZUSAMMENARBEIT</a:t>
            </a:r>
          </a:p>
        </p:txBody>
      </p:sp>
      <p:sp>
        <p:nvSpPr>
          <p:cNvPr id="6" name="TextBox 5"/>
          <p:cNvSpPr txBox="1"/>
          <p:nvPr/>
        </p:nvSpPr>
        <p:spPr>
          <a:xfrm>
            <a:off x="758952" y="2651760"/>
            <a:ext cx="10673791" cy="1463040"/>
          </a:xfrm>
          <a:prstGeom prst="rect">
            <a:avLst/>
          </a:prstGeom>
          <a:noFill/>
        </p:spPr>
        <p:txBody>
          <a:bodyPr wrap="square" anchor="t" lIns="0" rIns="0" tIns="0" bIns="0">
            <a:spAutoFit/>
          </a:bodyPr>
          <a:lstStyle/>
          <a:p>
            <a:pPr algn="l">
              <a:lnSpc>
                <a:spcPct val="102000"/>
              </a:lnSpc>
            </a:pPr>
            <a:r>
              <a:rPr sz="4000" b="1">
                <a:solidFill>
                  <a:srgbClr val="E9E7E2"/>
                </a:solidFill>
                <a:latin typeface="Space Grotesk"/>
              </a:rPr>
              <a:t>KI UND DIGITALISIERUNG FÜR
</a:t>
            </a:r>
            <a:r>
              <a:rPr sz="4000" b="1">
                <a:solidFill>
                  <a:srgbClr val="8FA9BD"/>
                </a:solidFill>
                <a:latin typeface="Space Grotesk"/>
              </a:rPr>
              <a:t>[NAME DES BETRIEBS]</a:t>
            </a:r>
            <a:r>
              <a:rPr sz="4000" b="1">
                <a:solidFill>
                  <a:srgbClr val="E9E7E2"/>
                </a:solidFill>
                <a:latin typeface="Space Grotesk"/>
              </a:rPr>
              <a:t>.</a:t>
            </a:r>
          </a:p>
        </p:txBody>
      </p:sp>
      <p:sp>
        <p:nvSpPr>
          <p:cNvPr id="7" name="TextBox 6"/>
          <p:cNvSpPr txBox="1"/>
          <p:nvPr/>
        </p:nvSpPr>
        <p:spPr>
          <a:xfrm>
            <a:off x="758952" y="4206240"/>
            <a:ext cx="7498079" cy="1097280"/>
          </a:xfrm>
          <a:prstGeom prst="rect">
            <a:avLst/>
          </a:prstGeom>
          <a:noFill/>
        </p:spPr>
        <p:txBody>
          <a:bodyPr wrap="square" anchor="t" lIns="0" rIns="0" tIns="0" bIns="0">
            <a:spAutoFit/>
          </a:bodyPr>
          <a:lstStyle/>
          <a:p>
            <a:pPr algn="l">
              <a:lnSpc>
                <a:spcPct val="125000"/>
              </a:lnSpc>
              <a:spcBef>
                <a:spcPts val="0"/>
              </a:spcBef>
            </a:pPr>
            <a:r>
              <a:rPr sz="1400" b="0">
                <a:solidFill>
                  <a:srgbClr val="A8AEB6"/>
                </a:solidFill>
                <a:latin typeface="Space Grotesk"/>
              </a:rPr>
              <a:t>Weniger Zeit für Büro und Verwaltung. Von der ersten Analyse bis zur fertigen Umsetzung, mit bis zu 50 % Förderung.</a:t>
            </a:r>
          </a:p>
        </p:txBody>
      </p:sp>
      <p:sp>
        <p:nvSpPr>
          <p:cNvPr id="8" name="TextBox 7"/>
          <p:cNvSpPr txBox="1"/>
          <p:nvPr/>
        </p:nvSpPr>
        <p:spPr>
          <a:xfrm>
            <a:off x="758952" y="5989320"/>
            <a:ext cx="10058400" cy="365760"/>
          </a:xfrm>
          <a:prstGeom prst="rect">
            <a:avLst/>
          </a:prstGeom>
          <a:noFill/>
        </p:spPr>
        <p:txBody>
          <a:bodyPr wrap="square" anchor="t" lIns="0" rIns="0" tIns="0" bIns="0">
            <a:spAutoFit/>
          </a:bodyPr>
          <a:lstStyle/>
          <a:p>
            <a:pPr algn="l"/>
            <a:r>
              <a:rPr sz="1000" b="0" spc="200">
                <a:solidFill>
                  <a:srgbClr val="9AA0A8"/>
                </a:solidFill>
                <a:latin typeface="Consolas"/>
              </a:rPr>
              <a:t>[TT.MM.JJJJ]  ·  FÜR [VORNAME NACHNAME]  ·  UNVERBINDLICHE ÜBERSICHT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cxnSp>
        <p:nvCxnSpPr>
          <p:cNvPr id="2" name="Connector 1"/>
          <p:cNvCxnSpPr/>
          <p:nvPr/>
        </p:nvCxnSpPr>
        <p:spPr>
          <a:xfrm>
            <a:off x="758952"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1432743"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58952" y="768096"/>
            <a:ext cx="4349343.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083399.5" y="768096"/>
            <a:ext cx="4349343.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108295" y="667512"/>
            <a:ext cx="1975104" cy="274320"/>
          </a:xfrm>
          <a:prstGeom prst="rect">
            <a:avLst/>
          </a:prstGeom>
          <a:noFill/>
        </p:spPr>
        <p:txBody>
          <a:bodyPr wrap="square" anchor="t" lIns="0" rIns="0" tIns="0" bIns="0">
            <a:spAutoFit/>
          </a:bodyPr>
          <a:lstStyle/>
          <a:p>
            <a:pPr algn="ctr"/>
            <a:r>
              <a:rPr sz="1000" b="0" spc="300">
                <a:solidFill>
                  <a:srgbClr val="8FA9BD"/>
                </a:solidFill>
                <a:latin typeface="Consolas"/>
              </a:rPr>
              <a:t>AUSGANGSLAGE</a:t>
            </a:r>
          </a:p>
        </p:txBody>
      </p:sp>
      <p:sp>
        <p:nvSpPr>
          <p:cNvPr id="7" name="TextBox 6"/>
          <p:cNvSpPr txBox="1"/>
          <p:nvPr/>
        </p:nvSpPr>
        <p:spPr>
          <a:xfrm>
            <a:off x="758952" y="1417320"/>
            <a:ext cx="10673791" cy="1463040"/>
          </a:xfrm>
          <a:prstGeom prst="rect">
            <a:avLst/>
          </a:prstGeom>
          <a:noFill/>
        </p:spPr>
        <p:txBody>
          <a:bodyPr wrap="square" anchor="t" lIns="0" rIns="0" tIns="0" bIns="0">
            <a:spAutoFit/>
          </a:bodyPr>
          <a:lstStyle/>
          <a:p>
            <a:pPr algn="l">
              <a:lnSpc>
                <a:spcPct val="102000"/>
              </a:lnSpc>
            </a:pPr>
            <a:r>
              <a:rPr sz="3200" b="1">
                <a:solidFill>
                  <a:srgbClr val="E9E7E2"/>
                </a:solidFill>
                <a:latin typeface="Space Grotesk"/>
              </a:rPr>
              <a:t>DAS BÜRO MACHT BEI IHNEN </a:t>
            </a:r>
            <a:r>
              <a:rPr sz="3200" b="1">
                <a:solidFill>
                  <a:srgbClr val="8FA9BD"/>
                </a:solidFill>
                <a:latin typeface="Space Grotesk"/>
              </a:rPr>
              <a:t>ÜBERSTUNDEN</a:t>
            </a:r>
            <a:r>
              <a:rPr sz="3200" b="1">
                <a:solidFill>
                  <a:srgbClr val="E9E7E2"/>
                </a:solidFill>
                <a:latin typeface="Space Grotesk"/>
              </a:rPr>
              <a:t>.</a:t>
            </a:r>
          </a:p>
        </p:txBody>
      </p:sp>
      <p:sp>
        <p:nvSpPr>
          <p:cNvPr id="8" name="TextBox 7"/>
          <p:cNvSpPr txBox="1"/>
          <p:nvPr/>
        </p:nvSpPr>
        <p:spPr>
          <a:xfrm>
            <a:off x="758952" y="2377440"/>
            <a:ext cx="8412480" cy="3108960"/>
          </a:xfrm>
          <a:prstGeom prst="rect">
            <a:avLst/>
          </a:prstGeom>
          <a:noFill/>
        </p:spPr>
        <p:txBody>
          <a:bodyPr wrap="square" anchor="t" lIns="0" rIns="0" tIns="0" bIns="0">
            <a:spAutoFit/>
          </a:bodyPr>
          <a:lstStyle/>
          <a:p>
            <a:pPr algn="just">
              <a:lnSpc>
                <a:spcPct val="125000"/>
              </a:lnSpc>
              <a:spcBef>
                <a:spcPts val="0"/>
              </a:spcBef>
            </a:pPr>
            <a:r>
              <a:rPr sz="1400" b="0">
                <a:solidFill>
                  <a:srgbClr val="A8AEB6"/>
                </a:solidFill>
                <a:latin typeface="Space Grotesk"/>
              </a:rPr>
              <a:t>[Bezug auf den Erstkontakt: Sie hatten erwähnt, dass die Angebotsschreibung und die Ablage viel Zeit fressen. Genau dort setzen wir an.]</a:t>
            </a:r>
          </a:p>
          <a:p>
            <a:pPr algn="just">
              <a:lnSpc>
                <a:spcPct val="125000"/>
              </a:lnSpc>
              <a:spcBef>
                <a:spcPts val="600"/>
              </a:spcBef>
            </a:pPr>
            <a:r>
              <a:rPr sz="1400" b="0">
                <a:solidFill>
                  <a:srgbClr val="A8AEB6"/>
                </a:solidFill>
                <a:latin typeface="Space Grotesk"/>
              </a:rPr>
              <a:t>Wir digitalisieren Büro und Verwaltung in Handwerksbetrieben: Angebote, Rechnungen, Ablage, Wissensfragen. Durch Digitalisierung und den Einsatz künstlicher Intelligenz werden Abläufe effizienter, damit auch das Büro endlich Feierabend hat.</a:t>
            </a:r>
          </a:p>
          <a:p>
            <a:pPr algn="just">
              <a:lnSpc>
                <a:spcPct val="125000"/>
              </a:lnSpc>
              <a:spcBef>
                <a:spcPts val="600"/>
              </a:spcBef>
            </a:pPr>
            <a:r>
              <a:rPr sz="1400" b="0">
                <a:solidFill>
                  <a:srgbClr val="A8AEB6"/>
                </a:solidFill>
                <a:latin typeface="Space Grotesk"/>
              </a:rPr>
              <a:t>Wichtig dabei: Es bleibt nicht bei Beratung. Wir setzen um, richten ein und bleiben erreichbar, bis es im Alltag läuft.</a:t>
            </a:r>
          </a:p>
        </p:txBody>
      </p:sp>
      <p:sp>
        <p:nvSpPr>
          <p:cNvPr id="9" name="TextBox 8"/>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9AA0A8"/>
                </a:solidFill>
                <a:latin typeface="Consolas"/>
              </a:rPr>
              <a:t>MAINFRANKEN DIGITAL</a:t>
            </a:r>
          </a:p>
        </p:txBody>
      </p:sp>
      <p:sp>
        <p:nvSpPr>
          <p:cNvPr id="10" name="TextBox 9"/>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9AA0A8"/>
                </a:solidFill>
                <a:latin typeface="Consolas"/>
              </a:rPr>
              <a:t>ANGEBOT ZUR ZUSAMMENARBEIT</a:t>
            </a:r>
          </a:p>
        </p:txBody>
      </p:sp>
      <p:sp>
        <p:nvSpPr>
          <p:cNvPr id="11" name="TextBox 10"/>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9AA0A8"/>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cxnSp>
        <p:nvCxnSpPr>
          <p:cNvPr id="2" name="Connector 1"/>
          <p:cNvCxnSpPr/>
          <p:nvPr/>
        </p:nvCxnSpPr>
        <p:spPr>
          <a:xfrm>
            <a:off x="758952"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1432743"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58952" y="768096"/>
            <a:ext cx="4612233.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20509.5" y="768096"/>
            <a:ext cx="4612233.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71185" y="667512"/>
            <a:ext cx="1449324" cy="274320"/>
          </a:xfrm>
          <a:prstGeom prst="rect">
            <a:avLst/>
          </a:prstGeom>
          <a:noFill/>
        </p:spPr>
        <p:txBody>
          <a:bodyPr wrap="square" anchor="t" lIns="0" rIns="0" tIns="0" bIns="0">
            <a:spAutoFit/>
          </a:bodyPr>
          <a:lstStyle/>
          <a:p>
            <a:pPr algn="ctr"/>
            <a:r>
              <a:rPr sz="1000" b="0" spc="300">
                <a:solidFill>
                  <a:srgbClr val="8FA9BD"/>
                </a:solidFill>
                <a:latin typeface="Consolas"/>
              </a:rPr>
              <a:t>ANGEBOT</a:t>
            </a:r>
          </a:p>
        </p:txBody>
      </p:sp>
      <p:sp>
        <p:nvSpPr>
          <p:cNvPr id="7" name="TextBox 6"/>
          <p:cNvSpPr txBox="1"/>
          <p:nvPr/>
        </p:nvSpPr>
        <p:spPr>
          <a:xfrm>
            <a:off x="758952" y="1417320"/>
            <a:ext cx="10673791" cy="1463040"/>
          </a:xfrm>
          <a:prstGeom prst="rect">
            <a:avLst/>
          </a:prstGeom>
          <a:noFill/>
        </p:spPr>
        <p:txBody>
          <a:bodyPr wrap="square" anchor="t" lIns="0" rIns="0" tIns="0" bIns="0">
            <a:spAutoFit/>
          </a:bodyPr>
          <a:lstStyle/>
          <a:p>
            <a:pPr algn="l">
              <a:lnSpc>
                <a:spcPct val="102000"/>
              </a:lnSpc>
            </a:pPr>
            <a:r>
              <a:rPr sz="3200" b="1">
                <a:solidFill>
                  <a:srgbClr val="E9E7E2"/>
                </a:solidFill>
                <a:latin typeface="Space Grotesk"/>
              </a:rPr>
              <a:t>ZWEI SCHRITTE, KLAR </a:t>
            </a:r>
            <a:r>
              <a:rPr sz="3200" b="1">
                <a:solidFill>
                  <a:srgbClr val="8FA9BD"/>
                </a:solidFill>
                <a:latin typeface="Space Grotesk"/>
              </a:rPr>
              <a:t>GETRENNT</a:t>
            </a:r>
            <a:r>
              <a:rPr sz="3200" b="1">
                <a:solidFill>
                  <a:srgbClr val="E9E7E2"/>
                </a:solidFill>
                <a:latin typeface="Space Grotesk"/>
              </a:rPr>
              <a:t>.</a:t>
            </a:r>
          </a:p>
        </p:txBody>
      </p:sp>
      <p:sp>
        <p:nvSpPr>
          <p:cNvPr id="8" name="Rounded Rectangle 7"/>
          <p:cNvSpPr/>
          <p:nvPr/>
        </p:nvSpPr>
        <p:spPr>
          <a:xfrm>
            <a:off x="758952" y="2331720"/>
            <a:ext cx="5108295" cy="3520440"/>
          </a:xfrm>
          <a:prstGeom prst="roundRect">
            <a:avLst>
              <a:gd name="adj" fmla="val 3500"/>
            </a:avLst>
          </a:prstGeom>
          <a:solidFill>
            <a:srgbClr val="14171C"/>
          </a:solidFill>
          <a:ln w="13970">
            <a:solidFill>
              <a:srgbClr val="8FA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24712" y="2697480"/>
            <a:ext cx="1572768" cy="310896"/>
          </a:xfrm>
          <a:prstGeom prst="roundRect">
            <a:avLst>
              <a:gd name="adj" fmla="val 50000"/>
            </a:avLst>
          </a:prstGeom>
          <a:noFill/>
          <a:ln w="12700">
            <a:solidFill>
              <a:srgbClr val="8FA9B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900" spc="200">
                <a:solidFill>
                  <a:srgbClr val="8FA9BD"/>
                </a:solidFill>
                <a:latin typeface="Consolas"/>
              </a:rPr>
              <a:t>SCHRITT 1</a:t>
            </a:r>
          </a:p>
        </p:txBody>
      </p:sp>
      <p:sp>
        <p:nvSpPr>
          <p:cNvPr id="10" name="TextBox 9"/>
          <p:cNvSpPr txBox="1"/>
          <p:nvPr/>
        </p:nvSpPr>
        <p:spPr>
          <a:xfrm>
            <a:off x="1124712" y="3246120"/>
            <a:ext cx="4376775" cy="457200"/>
          </a:xfrm>
          <a:prstGeom prst="rect">
            <a:avLst/>
          </a:prstGeom>
          <a:noFill/>
        </p:spPr>
        <p:txBody>
          <a:bodyPr wrap="square" anchor="t" lIns="0" rIns="0" tIns="0" bIns="0">
            <a:spAutoFit/>
          </a:bodyPr>
          <a:lstStyle/>
          <a:p>
            <a:pPr algn="l"/>
            <a:r>
              <a:rPr sz="1900" b="1">
                <a:solidFill>
                  <a:srgbClr val="E9E7E2"/>
                </a:solidFill>
                <a:latin typeface="Space Grotesk"/>
              </a:rPr>
              <a:t>Digital-Check</a:t>
            </a:r>
          </a:p>
        </p:txBody>
      </p:sp>
      <p:sp>
        <p:nvSpPr>
          <p:cNvPr id="11" name="TextBox 10"/>
          <p:cNvSpPr txBox="1"/>
          <p:nvPr/>
        </p:nvSpPr>
        <p:spPr>
          <a:xfrm>
            <a:off x="1124712" y="3794760"/>
            <a:ext cx="4376775" cy="1371600"/>
          </a:xfrm>
          <a:prstGeom prst="rect">
            <a:avLst/>
          </a:prstGeom>
          <a:noFill/>
        </p:spPr>
        <p:txBody>
          <a:bodyPr wrap="square" anchor="t" lIns="0" rIns="0" tIns="0" bIns="0">
            <a:spAutoFit/>
          </a:bodyPr>
          <a:lstStyle/>
          <a:p>
            <a:pPr algn="just">
              <a:lnSpc>
                <a:spcPct val="125000"/>
              </a:lnSpc>
              <a:spcBef>
                <a:spcPts val="0"/>
              </a:spcBef>
            </a:pPr>
            <a:r>
              <a:rPr sz="1200" b="0">
                <a:solidFill>
                  <a:srgbClr val="A8AEB6"/>
                </a:solidFill>
                <a:latin typeface="Space Grotesk"/>
              </a:rPr>
              <a:t>Ein Tag vor Ort in Ihrem Betrieb. Wir nehmen die Abläufe in Büro und Verwaltung auf. Danach haben Sie schwarz auf weiß, was sich bei Ihnen lohnt, was es kostet und was es bringt.</a:t>
            </a:r>
          </a:p>
        </p:txBody>
      </p:sp>
      <p:sp>
        <p:nvSpPr>
          <p:cNvPr id="12" name="TextBox 11"/>
          <p:cNvSpPr txBox="1"/>
          <p:nvPr/>
        </p:nvSpPr>
        <p:spPr>
          <a:xfrm>
            <a:off x="1124712" y="5212080"/>
            <a:ext cx="4376775" cy="457200"/>
          </a:xfrm>
          <a:prstGeom prst="rect">
            <a:avLst/>
          </a:prstGeom>
          <a:noFill/>
        </p:spPr>
        <p:txBody>
          <a:bodyPr wrap="square" anchor="t" lIns="0" rIns="0" tIns="0" bIns="0">
            <a:spAutoFit/>
          </a:bodyPr>
          <a:lstStyle/>
          <a:p>
            <a:pPr algn="l"/>
            <a:r>
              <a:rPr sz="1600" b="1">
                <a:solidFill>
                  <a:srgbClr val="8FA9BD"/>
                </a:solidFill>
                <a:latin typeface="Space Grotesk"/>
              </a:rPr>
              <a:t>1.900 € netto</a:t>
            </a:r>
          </a:p>
        </p:txBody>
      </p:sp>
      <p:sp>
        <p:nvSpPr>
          <p:cNvPr id="13" name="Rounded Rectangle 12"/>
          <p:cNvSpPr/>
          <p:nvPr/>
        </p:nvSpPr>
        <p:spPr>
          <a:xfrm>
            <a:off x="6324447" y="2331720"/>
            <a:ext cx="5108295" cy="3520440"/>
          </a:xfrm>
          <a:prstGeom prst="roundRect">
            <a:avLst>
              <a:gd name="adj" fmla="val 3500"/>
            </a:avLst>
          </a:prstGeom>
          <a:solidFill>
            <a:srgbClr val="14171C"/>
          </a:solidFill>
          <a:ln w="12700">
            <a:solidFill>
              <a:srgbClr val="2B2F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90207" y="2697480"/>
            <a:ext cx="1572768" cy="310896"/>
          </a:xfrm>
          <a:prstGeom prst="roundRect">
            <a:avLst>
              <a:gd name="adj" fmla="val 50000"/>
            </a:avLst>
          </a:prstGeom>
          <a:noFill/>
          <a:ln w="12700">
            <a:solidFill>
              <a:srgbClr val="8FA9BD"/>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900" spc="200">
                <a:solidFill>
                  <a:srgbClr val="8FA9BD"/>
                </a:solidFill>
                <a:latin typeface="Consolas"/>
              </a:rPr>
              <a:t>SCHRITT 2</a:t>
            </a:r>
          </a:p>
        </p:txBody>
      </p:sp>
      <p:sp>
        <p:nvSpPr>
          <p:cNvPr id="15" name="TextBox 14"/>
          <p:cNvSpPr txBox="1"/>
          <p:nvPr/>
        </p:nvSpPr>
        <p:spPr>
          <a:xfrm>
            <a:off x="6690207" y="3246120"/>
            <a:ext cx="4376775" cy="457200"/>
          </a:xfrm>
          <a:prstGeom prst="rect">
            <a:avLst/>
          </a:prstGeom>
          <a:noFill/>
        </p:spPr>
        <p:txBody>
          <a:bodyPr wrap="square" anchor="t" lIns="0" rIns="0" tIns="0" bIns="0">
            <a:spAutoFit/>
          </a:bodyPr>
          <a:lstStyle/>
          <a:p>
            <a:pPr algn="l"/>
            <a:r>
              <a:rPr sz="1900" b="1">
                <a:solidFill>
                  <a:srgbClr val="E9E7E2"/>
                </a:solidFill>
                <a:latin typeface="Space Grotesk"/>
              </a:rPr>
              <a:t>Umsetzungsprojekt</a:t>
            </a:r>
          </a:p>
        </p:txBody>
      </p:sp>
      <p:sp>
        <p:nvSpPr>
          <p:cNvPr id="16" name="TextBox 15"/>
          <p:cNvSpPr txBox="1"/>
          <p:nvPr/>
        </p:nvSpPr>
        <p:spPr>
          <a:xfrm>
            <a:off x="6690207" y="3794760"/>
            <a:ext cx="4376775" cy="1371600"/>
          </a:xfrm>
          <a:prstGeom prst="rect">
            <a:avLst/>
          </a:prstGeom>
          <a:noFill/>
        </p:spPr>
        <p:txBody>
          <a:bodyPr wrap="square" anchor="t" lIns="0" rIns="0" tIns="0" bIns="0">
            <a:spAutoFit/>
          </a:bodyPr>
          <a:lstStyle/>
          <a:p>
            <a:pPr algn="just">
              <a:lnSpc>
                <a:spcPct val="125000"/>
              </a:lnSpc>
              <a:spcBef>
                <a:spcPts val="0"/>
              </a:spcBef>
            </a:pPr>
            <a:r>
              <a:rPr sz="1200" b="0">
                <a:solidFill>
                  <a:srgbClr val="A8AEB6"/>
                </a:solidFill>
                <a:latin typeface="Space Grotesk"/>
              </a:rPr>
              <a:t>Die Maßnahmen aus dem Digital-Check werden eingerichtet und so lange angepasst, bis sie in Ihren Alltag passen. Digitalbonus und Antrag klären wir vorher gemeinsam.</a:t>
            </a:r>
          </a:p>
        </p:txBody>
      </p:sp>
      <p:sp>
        <p:nvSpPr>
          <p:cNvPr id="17" name="TextBox 16"/>
          <p:cNvSpPr txBox="1"/>
          <p:nvPr/>
        </p:nvSpPr>
        <p:spPr>
          <a:xfrm>
            <a:off x="6690207" y="5212080"/>
            <a:ext cx="4376775" cy="457200"/>
          </a:xfrm>
          <a:prstGeom prst="rect">
            <a:avLst/>
          </a:prstGeom>
          <a:noFill/>
        </p:spPr>
        <p:txBody>
          <a:bodyPr wrap="square" anchor="t" lIns="0" rIns="0" tIns="0" bIns="0">
            <a:spAutoFit/>
          </a:bodyPr>
          <a:lstStyle/>
          <a:p>
            <a:pPr algn="l"/>
            <a:r>
              <a:rPr sz="1600" b="1">
                <a:solidFill>
                  <a:srgbClr val="8FA9BD"/>
                </a:solidFill>
                <a:latin typeface="Space Grotesk"/>
              </a:rPr>
              <a:t>ab 10.000 €, typisch 15.000 €</a:t>
            </a:r>
          </a:p>
        </p:txBody>
      </p:sp>
      <p:sp>
        <p:nvSpPr>
          <p:cNvPr id="18" name="TextBox 17"/>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9AA0A8"/>
                </a:solidFill>
                <a:latin typeface="Consolas"/>
              </a:rPr>
              <a:t>MAINFRANKEN DIGITAL</a:t>
            </a:r>
          </a:p>
        </p:txBody>
      </p:sp>
      <p:sp>
        <p:nvSpPr>
          <p:cNvPr id="19" name="TextBox 18"/>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9AA0A8"/>
                </a:solidFill>
                <a:latin typeface="Consolas"/>
              </a:rPr>
              <a:t>ANGEBOT ZUR ZUSAMMENARBEIT</a:t>
            </a:r>
          </a:p>
        </p:txBody>
      </p:sp>
      <p:sp>
        <p:nvSpPr>
          <p:cNvPr id="20" name="TextBox 19"/>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9AA0A8"/>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cxnSp>
        <p:nvCxnSpPr>
          <p:cNvPr id="2" name="Connector 1"/>
          <p:cNvCxnSpPr/>
          <p:nvPr/>
        </p:nvCxnSpPr>
        <p:spPr>
          <a:xfrm>
            <a:off x="758952"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1432743"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58952" y="768096"/>
            <a:ext cx="4507077.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25665.5" y="768096"/>
            <a:ext cx="4507077.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66029" y="667512"/>
            <a:ext cx="1659636" cy="274320"/>
          </a:xfrm>
          <a:prstGeom prst="rect">
            <a:avLst/>
          </a:prstGeom>
          <a:noFill/>
        </p:spPr>
        <p:txBody>
          <a:bodyPr wrap="square" anchor="t" lIns="0" rIns="0" tIns="0" bIns="0">
            <a:spAutoFit/>
          </a:bodyPr>
          <a:lstStyle/>
          <a:p>
            <a:pPr algn="ctr"/>
            <a:r>
              <a:rPr sz="1000" b="0" spc="300">
                <a:solidFill>
                  <a:srgbClr val="8FA9BD"/>
                </a:solidFill>
                <a:latin typeface="Consolas"/>
              </a:rPr>
              <a:t>FÖRDERUNG</a:t>
            </a:r>
          </a:p>
        </p:txBody>
      </p:sp>
      <p:sp>
        <p:nvSpPr>
          <p:cNvPr id="7" name="TextBox 6"/>
          <p:cNvSpPr txBox="1"/>
          <p:nvPr/>
        </p:nvSpPr>
        <p:spPr>
          <a:xfrm>
            <a:off x="758952" y="1371600"/>
            <a:ext cx="10673791" cy="1463040"/>
          </a:xfrm>
          <a:prstGeom prst="rect">
            <a:avLst/>
          </a:prstGeom>
          <a:noFill/>
        </p:spPr>
        <p:txBody>
          <a:bodyPr wrap="square" anchor="t" lIns="0" rIns="0" tIns="0" bIns="0">
            <a:spAutoFit/>
          </a:bodyPr>
          <a:lstStyle/>
          <a:p>
            <a:pPr algn="l">
              <a:lnSpc>
                <a:spcPct val="102000"/>
              </a:lnSpc>
            </a:pPr>
            <a:r>
              <a:rPr sz="3000" b="1">
                <a:solidFill>
                  <a:srgbClr val="E9E7E2"/>
                </a:solidFill>
                <a:latin typeface="Space Grotesk"/>
              </a:rPr>
              <a:t>DER DIGITALBONUS BAYERN ÜBERNIMMT BIS ZU </a:t>
            </a:r>
            <a:r>
              <a:rPr sz="3000" b="1">
                <a:solidFill>
                  <a:srgbClr val="8FA9BD"/>
                </a:solidFill>
                <a:latin typeface="Space Grotesk"/>
              </a:rPr>
              <a:t>50 %</a:t>
            </a:r>
            <a:r>
              <a:rPr sz="3000" b="1">
                <a:solidFill>
                  <a:srgbClr val="E9E7E2"/>
                </a:solidFill>
                <a:latin typeface="Space Grotesk"/>
              </a:rPr>
              <a:t>.</a:t>
            </a:r>
          </a:p>
        </p:txBody>
      </p:sp>
      <p:sp>
        <p:nvSpPr>
          <p:cNvPr id="8" name="TextBox 7"/>
          <p:cNvSpPr txBox="1"/>
          <p:nvPr/>
        </p:nvSpPr>
        <p:spPr>
          <a:xfrm>
            <a:off x="758952" y="2514600"/>
            <a:ext cx="2194560" cy="868680"/>
          </a:xfrm>
          <a:prstGeom prst="rect">
            <a:avLst/>
          </a:prstGeom>
          <a:noFill/>
        </p:spPr>
        <p:txBody>
          <a:bodyPr wrap="square" anchor="t" lIns="0" rIns="0" tIns="0" bIns="0">
            <a:spAutoFit/>
          </a:bodyPr>
          <a:lstStyle/>
          <a:p>
            <a:pPr algn="l"/>
            <a:r>
              <a:rPr sz="3600" b="1">
                <a:solidFill>
                  <a:srgbClr val="E9E7E2"/>
                </a:solidFill>
                <a:latin typeface="Space Grotesk"/>
              </a:rPr>
              <a:t>50 %</a:t>
            </a:r>
          </a:p>
        </p:txBody>
      </p:sp>
      <p:sp>
        <p:nvSpPr>
          <p:cNvPr id="9" name="TextBox 8"/>
          <p:cNvSpPr txBox="1"/>
          <p:nvPr/>
        </p:nvSpPr>
        <p:spPr>
          <a:xfrm>
            <a:off x="758952" y="3355848"/>
            <a:ext cx="2194560" cy="457200"/>
          </a:xfrm>
          <a:prstGeom prst="rect">
            <a:avLst/>
          </a:prstGeom>
          <a:noFill/>
        </p:spPr>
        <p:txBody>
          <a:bodyPr wrap="square" anchor="t" lIns="0" rIns="0" tIns="0" bIns="0">
            <a:spAutoFit/>
          </a:bodyPr>
          <a:lstStyle/>
          <a:p>
            <a:pPr algn="l"/>
            <a:r>
              <a:rPr sz="1000" b="0" spc="200">
                <a:solidFill>
                  <a:srgbClr val="9AA0A8"/>
                </a:solidFill>
                <a:latin typeface="Consolas"/>
              </a:rPr>
              <a:t>DER PROJEKTKOSTEN</a:t>
            </a:r>
          </a:p>
        </p:txBody>
      </p:sp>
      <p:sp>
        <p:nvSpPr>
          <p:cNvPr id="10" name="TextBox 9"/>
          <p:cNvSpPr txBox="1"/>
          <p:nvPr/>
        </p:nvSpPr>
        <p:spPr>
          <a:xfrm>
            <a:off x="3136392" y="2514600"/>
            <a:ext cx="2194560" cy="868680"/>
          </a:xfrm>
          <a:prstGeom prst="rect">
            <a:avLst/>
          </a:prstGeom>
          <a:noFill/>
        </p:spPr>
        <p:txBody>
          <a:bodyPr wrap="square" anchor="t" lIns="0" rIns="0" tIns="0" bIns="0">
            <a:spAutoFit/>
          </a:bodyPr>
          <a:lstStyle/>
          <a:p>
            <a:pPr algn="l"/>
            <a:r>
              <a:rPr sz="3600" b="1">
                <a:solidFill>
                  <a:srgbClr val="E9E7E2"/>
                </a:solidFill>
                <a:latin typeface="Space Grotesk"/>
              </a:rPr>
              <a:t>7.500 €</a:t>
            </a:r>
          </a:p>
        </p:txBody>
      </p:sp>
      <p:sp>
        <p:nvSpPr>
          <p:cNvPr id="11" name="TextBox 10"/>
          <p:cNvSpPr txBox="1"/>
          <p:nvPr/>
        </p:nvSpPr>
        <p:spPr>
          <a:xfrm>
            <a:off x="3136392" y="3355848"/>
            <a:ext cx="2194560" cy="457200"/>
          </a:xfrm>
          <a:prstGeom prst="rect">
            <a:avLst/>
          </a:prstGeom>
          <a:noFill/>
        </p:spPr>
        <p:txBody>
          <a:bodyPr wrap="square" anchor="t" lIns="0" rIns="0" tIns="0" bIns="0">
            <a:spAutoFit/>
          </a:bodyPr>
          <a:lstStyle/>
          <a:p>
            <a:pPr algn="l"/>
            <a:r>
              <a:rPr sz="1000" b="0" spc="200">
                <a:solidFill>
                  <a:srgbClr val="9AA0A8"/>
                </a:solidFill>
                <a:latin typeface="Consolas"/>
              </a:rPr>
              <a:t>HÖCHSTZUSCHUSS</a:t>
            </a:r>
          </a:p>
        </p:txBody>
      </p:sp>
      <p:sp>
        <p:nvSpPr>
          <p:cNvPr id="12" name="TextBox 11"/>
          <p:cNvSpPr txBox="1"/>
          <p:nvPr/>
        </p:nvSpPr>
        <p:spPr>
          <a:xfrm>
            <a:off x="5513832" y="2514600"/>
            <a:ext cx="2194560" cy="868680"/>
          </a:xfrm>
          <a:prstGeom prst="rect">
            <a:avLst/>
          </a:prstGeom>
          <a:noFill/>
        </p:spPr>
        <p:txBody>
          <a:bodyPr wrap="square" anchor="t" lIns="0" rIns="0" tIns="0" bIns="0">
            <a:spAutoFit/>
          </a:bodyPr>
          <a:lstStyle/>
          <a:p>
            <a:pPr algn="l"/>
            <a:r>
              <a:rPr sz="3600" b="1">
                <a:solidFill>
                  <a:srgbClr val="E9E7E2"/>
                </a:solidFill>
                <a:latin typeface="Space Grotesk"/>
              </a:rPr>
              <a:t>4.000 €</a:t>
            </a:r>
          </a:p>
        </p:txBody>
      </p:sp>
      <p:sp>
        <p:nvSpPr>
          <p:cNvPr id="13" name="TextBox 12"/>
          <p:cNvSpPr txBox="1"/>
          <p:nvPr/>
        </p:nvSpPr>
        <p:spPr>
          <a:xfrm>
            <a:off x="5513832" y="3355848"/>
            <a:ext cx="2194560" cy="457200"/>
          </a:xfrm>
          <a:prstGeom prst="rect">
            <a:avLst/>
          </a:prstGeom>
          <a:noFill/>
        </p:spPr>
        <p:txBody>
          <a:bodyPr wrap="square" anchor="t" lIns="0" rIns="0" tIns="0" bIns="0">
            <a:spAutoFit/>
          </a:bodyPr>
          <a:lstStyle/>
          <a:p>
            <a:pPr algn="l"/>
            <a:r>
              <a:rPr sz="1000" b="0" spc="200">
                <a:solidFill>
                  <a:srgbClr val="9AA0A8"/>
                </a:solidFill>
                <a:latin typeface="Consolas"/>
              </a:rPr>
              <a:t>MINDESTVOLUMEN</a:t>
            </a:r>
          </a:p>
        </p:txBody>
      </p:sp>
      <p:sp>
        <p:nvSpPr>
          <p:cNvPr id="14" name="Rounded Rectangle 13"/>
          <p:cNvSpPr/>
          <p:nvPr/>
        </p:nvSpPr>
        <p:spPr>
          <a:xfrm>
            <a:off x="8165592" y="2377440"/>
            <a:ext cx="3267151" cy="2103120"/>
          </a:xfrm>
          <a:prstGeom prst="roundRect">
            <a:avLst>
              <a:gd name="adj" fmla="val 3500"/>
            </a:avLst>
          </a:prstGeom>
          <a:solidFill>
            <a:srgbClr val="14171C"/>
          </a:solidFill>
          <a:ln w="13970">
            <a:solidFill>
              <a:srgbClr val="8FA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651760"/>
            <a:ext cx="2627071" cy="1737360"/>
          </a:xfrm>
          <a:prstGeom prst="rect">
            <a:avLst/>
          </a:prstGeom>
          <a:noFill/>
        </p:spPr>
        <p:txBody>
          <a:bodyPr wrap="square" anchor="t" lIns="0" rIns="0" tIns="0" bIns="0">
            <a:spAutoFit/>
          </a:bodyPr>
          <a:lstStyle/>
          <a:p>
            <a:pPr algn="l"/>
            <a:r>
              <a:rPr sz="900" b="0" spc="220">
                <a:solidFill>
                  <a:srgbClr val="8FA9BD"/>
                </a:solidFill>
                <a:latin typeface="Consolas"/>
              </a:rPr>
              <a:t>BEISPIELRECHNUNG</a:t>
            </a:r>
          </a:p>
          <a:p>
            <a:pPr algn="l">
              <a:spcBef>
                <a:spcPts val="1000"/>
              </a:spcBef>
            </a:pPr>
            <a:r>
              <a:rPr sz="1200" b="0">
                <a:solidFill>
                  <a:srgbClr val="A8AEB6"/>
                </a:solidFill>
                <a:latin typeface="Space Grotesk"/>
              </a:rPr>
              <a:t>Projekt 15.000 €</a:t>
            </a:r>
          </a:p>
          <a:p>
            <a:pPr algn="l">
              <a:spcBef>
                <a:spcPts val="400"/>
              </a:spcBef>
            </a:pPr>
            <a:r>
              <a:rPr sz="1500" b="1">
                <a:solidFill>
                  <a:srgbClr val="E9E7E2"/>
                </a:solidFill>
                <a:latin typeface="Space Grotesk"/>
              </a:rPr>
              <a:t>Zuschuss 7.500 €</a:t>
            </a:r>
          </a:p>
          <a:p>
            <a:pPr algn="l">
              <a:spcBef>
                <a:spcPts val="200"/>
              </a:spcBef>
            </a:pPr>
            <a:r>
              <a:rPr sz="1500" b="1">
                <a:solidFill>
                  <a:srgbClr val="8FA9BD"/>
                </a:solidFill>
                <a:latin typeface="Space Grotesk"/>
              </a:rPr>
              <a:t>Ihr Anteil 7.500 €</a:t>
            </a:r>
          </a:p>
        </p:txBody>
      </p:sp>
      <p:cxnSp>
        <p:nvCxnSpPr>
          <p:cNvPr id="16" name="Connector 15"/>
          <p:cNvCxnSpPr/>
          <p:nvPr/>
        </p:nvCxnSpPr>
        <p:spPr>
          <a:xfrm>
            <a:off x="758952" y="4892040"/>
            <a:ext cx="10673791"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58952" y="5074920"/>
            <a:ext cx="8686800" cy="1097280"/>
          </a:xfrm>
          <a:prstGeom prst="rect">
            <a:avLst/>
          </a:prstGeom>
          <a:noFill/>
        </p:spPr>
        <p:txBody>
          <a:bodyPr wrap="square" anchor="t" lIns="0" rIns="0" tIns="0" bIns="0">
            <a:spAutoFit/>
          </a:bodyPr>
          <a:lstStyle/>
          <a:p>
            <a:pPr algn="l">
              <a:lnSpc>
                <a:spcPct val="125000"/>
              </a:lnSpc>
              <a:spcBef>
                <a:spcPts val="0"/>
              </a:spcBef>
            </a:pPr>
            <a:r>
              <a:rPr sz="1100" b="0">
                <a:solidFill>
                  <a:srgbClr val="A8AEB6"/>
                </a:solidFill>
                <a:latin typeface="Space Grotesk"/>
              </a:rPr>
              <a:t>Angaben ohne Gewähr; maßgeblich sind die aktuellen Bedingungen unter digitalbonus.bayern.de. Ob Ihr Betrieb die Voraussetzungen erfüllt und wie der Antrag läuft, klären wir im Erstgespräch.</a:t>
            </a:r>
          </a:p>
        </p:txBody>
      </p:sp>
      <p:sp>
        <p:nvSpPr>
          <p:cNvPr id="18" name="TextBox 17"/>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9AA0A8"/>
                </a:solidFill>
                <a:latin typeface="Consolas"/>
              </a:rPr>
              <a:t>MAINFRANKEN DIGITAL</a:t>
            </a:r>
          </a:p>
        </p:txBody>
      </p:sp>
      <p:sp>
        <p:nvSpPr>
          <p:cNvPr id="19" name="TextBox 18"/>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9AA0A8"/>
                </a:solidFill>
                <a:latin typeface="Consolas"/>
              </a:rPr>
              <a:t>ANGEBOT ZUR ZUSAMMENARBEIT</a:t>
            </a:r>
          </a:p>
        </p:txBody>
      </p:sp>
      <p:sp>
        <p:nvSpPr>
          <p:cNvPr id="20" name="TextBox 19"/>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9AA0A8"/>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cxnSp>
        <p:nvCxnSpPr>
          <p:cNvPr id="2" name="Connector 1"/>
          <p:cNvCxnSpPr/>
          <p:nvPr/>
        </p:nvCxnSpPr>
        <p:spPr>
          <a:xfrm>
            <a:off x="758952"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1432743"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58952" y="768096"/>
            <a:ext cx="4664811.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767931.5" y="768096"/>
            <a:ext cx="4664811.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23763" y="667512"/>
            <a:ext cx="1344168" cy="274320"/>
          </a:xfrm>
          <a:prstGeom prst="rect">
            <a:avLst/>
          </a:prstGeom>
          <a:noFill/>
        </p:spPr>
        <p:txBody>
          <a:bodyPr wrap="square" anchor="t" lIns="0" rIns="0" tIns="0" bIns="0">
            <a:spAutoFit/>
          </a:bodyPr>
          <a:lstStyle/>
          <a:p>
            <a:pPr algn="ctr"/>
            <a:r>
              <a:rPr sz="1000" b="0" spc="300">
                <a:solidFill>
                  <a:srgbClr val="8FA9BD"/>
                </a:solidFill>
                <a:latin typeface="Consolas"/>
              </a:rPr>
              <a:t>ABLAUF</a:t>
            </a:r>
          </a:p>
        </p:txBody>
      </p:sp>
      <p:sp>
        <p:nvSpPr>
          <p:cNvPr id="7" name="TextBox 6"/>
          <p:cNvSpPr txBox="1"/>
          <p:nvPr/>
        </p:nvSpPr>
        <p:spPr>
          <a:xfrm>
            <a:off x="758952" y="1417320"/>
            <a:ext cx="10673791" cy="1463040"/>
          </a:xfrm>
          <a:prstGeom prst="rect">
            <a:avLst/>
          </a:prstGeom>
          <a:noFill/>
        </p:spPr>
        <p:txBody>
          <a:bodyPr wrap="square" anchor="t" lIns="0" rIns="0" tIns="0" bIns="0">
            <a:spAutoFit/>
          </a:bodyPr>
          <a:lstStyle/>
          <a:p>
            <a:pPr algn="l">
              <a:lnSpc>
                <a:spcPct val="102000"/>
              </a:lnSpc>
            </a:pPr>
            <a:r>
              <a:rPr sz="3200" b="1">
                <a:solidFill>
                  <a:srgbClr val="E9E7E2"/>
                </a:solidFill>
                <a:latin typeface="Space Grotesk"/>
              </a:rPr>
              <a:t>VIER SCHRITTE BIS ZUM </a:t>
            </a:r>
            <a:r>
              <a:rPr sz="3200" b="1">
                <a:solidFill>
                  <a:srgbClr val="8FA9BD"/>
                </a:solidFill>
                <a:latin typeface="Space Grotesk"/>
              </a:rPr>
              <a:t>FEIERABEND</a:t>
            </a:r>
            <a:r>
              <a:rPr sz="3200" b="1">
                <a:solidFill>
                  <a:srgbClr val="E9E7E2"/>
                </a:solidFill>
                <a:latin typeface="Space Grotesk"/>
              </a:rPr>
              <a:t>.</a:t>
            </a:r>
          </a:p>
        </p:txBody>
      </p:sp>
      <p:sp>
        <p:nvSpPr>
          <p:cNvPr id="8" name="Rounded Rectangle 7"/>
          <p:cNvSpPr/>
          <p:nvPr/>
        </p:nvSpPr>
        <p:spPr>
          <a:xfrm>
            <a:off x="758952" y="2331720"/>
            <a:ext cx="2394127" cy="3017520"/>
          </a:xfrm>
          <a:prstGeom prst="roundRect">
            <a:avLst>
              <a:gd name="adj" fmla="val 3500"/>
            </a:avLst>
          </a:prstGeom>
          <a:solidFill>
            <a:srgbClr val="14171C"/>
          </a:solidFill>
          <a:ln w="12700">
            <a:solidFill>
              <a:srgbClr val="2B2F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606040"/>
            <a:ext cx="1845487" cy="640080"/>
          </a:xfrm>
          <a:prstGeom prst="rect">
            <a:avLst/>
          </a:prstGeom>
          <a:noFill/>
        </p:spPr>
        <p:txBody>
          <a:bodyPr wrap="square" anchor="t" lIns="0" rIns="0" tIns="0" bIns="0">
            <a:spAutoFit/>
          </a:bodyPr>
          <a:lstStyle/>
          <a:p>
            <a:pPr algn="l"/>
            <a:r>
              <a:rPr sz="2600" b="1">
                <a:solidFill>
                  <a:srgbClr val="8FA9BD"/>
                </a:solidFill>
                <a:latin typeface="Consolas"/>
              </a:rPr>
              <a:t>01</a:t>
            </a:r>
          </a:p>
        </p:txBody>
      </p:sp>
      <p:sp>
        <p:nvSpPr>
          <p:cNvPr id="10" name="TextBox 9"/>
          <p:cNvSpPr txBox="1"/>
          <p:nvPr/>
        </p:nvSpPr>
        <p:spPr>
          <a:xfrm>
            <a:off x="1033272" y="3337560"/>
            <a:ext cx="1845487" cy="685800"/>
          </a:xfrm>
          <a:prstGeom prst="rect">
            <a:avLst/>
          </a:prstGeom>
          <a:noFill/>
        </p:spPr>
        <p:txBody>
          <a:bodyPr wrap="square" anchor="t" lIns="0" rIns="0" tIns="0" bIns="0">
            <a:spAutoFit/>
          </a:bodyPr>
          <a:lstStyle/>
          <a:p>
            <a:pPr algn="l"/>
            <a:r>
              <a:rPr sz="1350" b="1">
                <a:solidFill>
                  <a:srgbClr val="E9E7E2"/>
                </a:solidFill>
                <a:latin typeface="Space Grotesk"/>
              </a:rPr>
              <a:t>Erstgespräch</a:t>
            </a:r>
          </a:p>
        </p:txBody>
      </p:sp>
      <p:sp>
        <p:nvSpPr>
          <p:cNvPr id="11" name="TextBox 10"/>
          <p:cNvSpPr txBox="1"/>
          <p:nvPr/>
        </p:nvSpPr>
        <p:spPr>
          <a:xfrm>
            <a:off x="1033272" y="393192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A8AEB6"/>
                </a:solidFill>
                <a:latin typeface="Space Grotesk"/>
              </a:rPr>
              <a:t>Eine halbe Stunde, unverbindlich und kostenfrei. Sie erzählen, wo es klemmt.</a:t>
            </a:r>
          </a:p>
        </p:txBody>
      </p:sp>
      <p:sp>
        <p:nvSpPr>
          <p:cNvPr id="12" name="Rounded Rectangle 11"/>
          <p:cNvSpPr/>
          <p:nvPr/>
        </p:nvSpPr>
        <p:spPr>
          <a:xfrm>
            <a:off x="3518839" y="2331720"/>
            <a:ext cx="2394127" cy="3017520"/>
          </a:xfrm>
          <a:prstGeom prst="roundRect">
            <a:avLst>
              <a:gd name="adj" fmla="val 3500"/>
            </a:avLst>
          </a:prstGeom>
          <a:solidFill>
            <a:srgbClr val="14171C"/>
          </a:solidFill>
          <a:ln w="12700">
            <a:solidFill>
              <a:srgbClr val="2B2F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3159" y="2606040"/>
            <a:ext cx="1845487" cy="640080"/>
          </a:xfrm>
          <a:prstGeom prst="rect">
            <a:avLst/>
          </a:prstGeom>
          <a:noFill/>
        </p:spPr>
        <p:txBody>
          <a:bodyPr wrap="square" anchor="t" lIns="0" rIns="0" tIns="0" bIns="0">
            <a:spAutoFit/>
          </a:bodyPr>
          <a:lstStyle/>
          <a:p>
            <a:pPr algn="l"/>
            <a:r>
              <a:rPr sz="2600" b="1">
                <a:solidFill>
                  <a:srgbClr val="8FA9BD"/>
                </a:solidFill>
                <a:latin typeface="Consolas"/>
              </a:rPr>
              <a:t>02</a:t>
            </a:r>
          </a:p>
        </p:txBody>
      </p:sp>
      <p:sp>
        <p:nvSpPr>
          <p:cNvPr id="14" name="TextBox 13"/>
          <p:cNvSpPr txBox="1"/>
          <p:nvPr/>
        </p:nvSpPr>
        <p:spPr>
          <a:xfrm>
            <a:off x="3793159" y="3337560"/>
            <a:ext cx="1845487" cy="685800"/>
          </a:xfrm>
          <a:prstGeom prst="rect">
            <a:avLst/>
          </a:prstGeom>
          <a:noFill/>
        </p:spPr>
        <p:txBody>
          <a:bodyPr wrap="square" anchor="t" lIns="0" rIns="0" tIns="0" bIns="0">
            <a:spAutoFit/>
          </a:bodyPr>
          <a:lstStyle/>
          <a:p>
            <a:pPr algn="l"/>
            <a:r>
              <a:rPr sz="1350" b="1">
                <a:solidFill>
                  <a:srgbClr val="E9E7E2"/>
                </a:solidFill>
                <a:latin typeface="Space Grotesk"/>
              </a:rPr>
              <a:t>Digital-Check</a:t>
            </a:r>
          </a:p>
        </p:txBody>
      </p:sp>
      <p:sp>
        <p:nvSpPr>
          <p:cNvPr id="15" name="TextBox 14"/>
          <p:cNvSpPr txBox="1"/>
          <p:nvPr/>
        </p:nvSpPr>
        <p:spPr>
          <a:xfrm>
            <a:off x="3793159" y="393192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A8AEB6"/>
                </a:solidFill>
                <a:latin typeface="Space Grotesk"/>
              </a:rPr>
              <a:t>Ein Tag vor Ort. Danach wissen Sie, was sich lohnt, was es kostet und was es bringt.</a:t>
            </a:r>
          </a:p>
        </p:txBody>
      </p:sp>
      <p:sp>
        <p:nvSpPr>
          <p:cNvPr id="16" name="Rounded Rectangle 15"/>
          <p:cNvSpPr/>
          <p:nvPr/>
        </p:nvSpPr>
        <p:spPr>
          <a:xfrm>
            <a:off x="6278727" y="2331720"/>
            <a:ext cx="2394127" cy="3017520"/>
          </a:xfrm>
          <a:prstGeom prst="roundRect">
            <a:avLst>
              <a:gd name="adj" fmla="val 3500"/>
            </a:avLst>
          </a:prstGeom>
          <a:solidFill>
            <a:srgbClr val="14171C"/>
          </a:solidFill>
          <a:ln w="12700">
            <a:solidFill>
              <a:srgbClr val="2B2F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3047" y="2606040"/>
            <a:ext cx="1845487" cy="640080"/>
          </a:xfrm>
          <a:prstGeom prst="rect">
            <a:avLst/>
          </a:prstGeom>
          <a:noFill/>
        </p:spPr>
        <p:txBody>
          <a:bodyPr wrap="square" anchor="t" lIns="0" rIns="0" tIns="0" bIns="0">
            <a:spAutoFit/>
          </a:bodyPr>
          <a:lstStyle/>
          <a:p>
            <a:pPr algn="l"/>
            <a:r>
              <a:rPr sz="2600" b="1">
                <a:solidFill>
                  <a:srgbClr val="8FA9BD"/>
                </a:solidFill>
                <a:latin typeface="Consolas"/>
              </a:rPr>
              <a:t>03</a:t>
            </a:r>
          </a:p>
        </p:txBody>
      </p:sp>
      <p:sp>
        <p:nvSpPr>
          <p:cNvPr id="18" name="TextBox 17"/>
          <p:cNvSpPr txBox="1"/>
          <p:nvPr/>
        </p:nvSpPr>
        <p:spPr>
          <a:xfrm>
            <a:off x="6553047" y="3337560"/>
            <a:ext cx="1845487" cy="685800"/>
          </a:xfrm>
          <a:prstGeom prst="rect">
            <a:avLst/>
          </a:prstGeom>
          <a:noFill/>
        </p:spPr>
        <p:txBody>
          <a:bodyPr wrap="square" anchor="t" lIns="0" rIns="0" tIns="0" bIns="0">
            <a:spAutoFit/>
          </a:bodyPr>
          <a:lstStyle/>
          <a:p>
            <a:pPr algn="l"/>
            <a:r>
              <a:rPr sz="1350" b="1">
                <a:solidFill>
                  <a:srgbClr val="E9E7E2"/>
                </a:solidFill>
                <a:latin typeface="Space Grotesk"/>
              </a:rPr>
              <a:t>Angebot und Antrag</a:t>
            </a:r>
          </a:p>
        </p:txBody>
      </p:sp>
      <p:sp>
        <p:nvSpPr>
          <p:cNvPr id="19" name="TextBox 18"/>
          <p:cNvSpPr txBox="1"/>
          <p:nvPr/>
        </p:nvSpPr>
        <p:spPr>
          <a:xfrm>
            <a:off x="6553047" y="393192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A8AEB6"/>
                </a:solidFill>
                <a:latin typeface="Space Grotesk"/>
              </a:rPr>
              <a:t>Festes Angebot für die Umsetzung. Digitalbonus-Antrag klären wir vorher gemeinsam.</a:t>
            </a:r>
          </a:p>
        </p:txBody>
      </p:sp>
      <p:sp>
        <p:nvSpPr>
          <p:cNvPr id="20" name="Rounded Rectangle 19"/>
          <p:cNvSpPr/>
          <p:nvPr/>
        </p:nvSpPr>
        <p:spPr>
          <a:xfrm>
            <a:off x="9038615" y="2331720"/>
            <a:ext cx="2394127" cy="3017520"/>
          </a:xfrm>
          <a:prstGeom prst="roundRect">
            <a:avLst>
              <a:gd name="adj" fmla="val 3500"/>
            </a:avLst>
          </a:prstGeom>
          <a:solidFill>
            <a:srgbClr val="14171C"/>
          </a:solidFill>
          <a:ln w="12700">
            <a:solidFill>
              <a:srgbClr val="2B2F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12935" y="2606040"/>
            <a:ext cx="1845487" cy="640080"/>
          </a:xfrm>
          <a:prstGeom prst="rect">
            <a:avLst/>
          </a:prstGeom>
          <a:noFill/>
        </p:spPr>
        <p:txBody>
          <a:bodyPr wrap="square" anchor="t" lIns="0" rIns="0" tIns="0" bIns="0">
            <a:spAutoFit/>
          </a:bodyPr>
          <a:lstStyle/>
          <a:p>
            <a:pPr algn="l"/>
            <a:r>
              <a:rPr sz="2600" b="1">
                <a:solidFill>
                  <a:srgbClr val="8FA9BD"/>
                </a:solidFill>
                <a:latin typeface="Consolas"/>
              </a:rPr>
              <a:t>04</a:t>
            </a:r>
          </a:p>
        </p:txBody>
      </p:sp>
      <p:sp>
        <p:nvSpPr>
          <p:cNvPr id="22" name="TextBox 21"/>
          <p:cNvSpPr txBox="1"/>
          <p:nvPr/>
        </p:nvSpPr>
        <p:spPr>
          <a:xfrm>
            <a:off x="9312935" y="3337560"/>
            <a:ext cx="1845487" cy="685800"/>
          </a:xfrm>
          <a:prstGeom prst="rect">
            <a:avLst/>
          </a:prstGeom>
          <a:noFill/>
        </p:spPr>
        <p:txBody>
          <a:bodyPr wrap="square" anchor="t" lIns="0" rIns="0" tIns="0" bIns="0">
            <a:spAutoFit/>
          </a:bodyPr>
          <a:lstStyle/>
          <a:p>
            <a:pPr algn="l"/>
            <a:r>
              <a:rPr sz="1350" b="1">
                <a:solidFill>
                  <a:srgbClr val="E9E7E2"/>
                </a:solidFill>
                <a:latin typeface="Space Grotesk"/>
              </a:rPr>
              <a:t>Umsetzung</a:t>
            </a:r>
          </a:p>
        </p:txBody>
      </p:sp>
      <p:sp>
        <p:nvSpPr>
          <p:cNvPr id="23" name="TextBox 22"/>
          <p:cNvSpPr txBox="1"/>
          <p:nvPr/>
        </p:nvSpPr>
        <p:spPr>
          <a:xfrm>
            <a:off x="9312935" y="393192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A8AEB6"/>
                </a:solidFill>
                <a:latin typeface="Space Grotesk"/>
              </a:rPr>
              <a:t>Einrichten, anpassen, einweisen. Ich bleibe erreichbar, wenn etwas hakt.</a:t>
            </a:r>
          </a:p>
        </p:txBody>
      </p:sp>
      <p:sp>
        <p:nvSpPr>
          <p:cNvPr id="24" name="TextBox 23"/>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9AA0A8"/>
                </a:solidFill>
                <a:latin typeface="Consolas"/>
              </a:rPr>
              <a:t>MAINFRANKEN DIGITAL</a:t>
            </a:r>
          </a:p>
        </p:txBody>
      </p:sp>
      <p:sp>
        <p:nvSpPr>
          <p:cNvPr id="25" name="TextBox 24"/>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9AA0A8"/>
                </a:solidFill>
                <a:latin typeface="Consolas"/>
              </a:rPr>
              <a:t>ANGEBOT ZUR ZUSAMMENARBEIT</a:t>
            </a:r>
          </a:p>
        </p:txBody>
      </p:sp>
      <p:sp>
        <p:nvSpPr>
          <p:cNvPr id="26" name="TextBox 25"/>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9AA0A8"/>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cxnSp>
        <p:nvCxnSpPr>
          <p:cNvPr id="2" name="Connector 1"/>
          <p:cNvCxnSpPr/>
          <p:nvPr/>
        </p:nvCxnSpPr>
        <p:spPr>
          <a:xfrm>
            <a:off x="758952"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11432743" y="717804"/>
            <a:ext cx="0" cy="100584"/>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58952" y="768096"/>
            <a:ext cx="4612233.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20509.5" y="768096"/>
            <a:ext cx="4612233.5" cy="0"/>
          </a:xfrm>
          <a:prstGeom prst="line">
            <a:avLst/>
          </a:prstGeom>
          <a:ln w="12700">
            <a:solidFill>
              <a:srgbClr val="2B2F3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71185" y="667512"/>
            <a:ext cx="1449324" cy="274320"/>
          </a:xfrm>
          <a:prstGeom prst="rect">
            <a:avLst/>
          </a:prstGeom>
          <a:noFill/>
        </p:spPr>
        <p:txBody>
          <a:bodyPr wrap="square" anchor="t" lIns="0" rIns="0" tIns="0" bIns="0">
            <a:spAutoFit/>
          </a:bodyPr>
          <a:lstStyle/>
          <a:p>
            <a:pPr algn="ctr"/>
            <a:r>
              <a:rPr sz="1000" b="0" spc="300">
                <a:solidFill>
                  <a:srgbClr val="8FA9BD"/>
                </a:solidFill>
                <a:latin typeface="Consolas"/>
              </a:rPr>
              <a:t>KONTAKT</a:t>
            </a:r>
          </a:p>
        </p:txBody>
      </p:sp>
      <p:sp>
        <p:nvSpPr>
          <p:cNvPr id="7" name="TextBox 6"/>
          <p:cNvSpPr txBox="1"/>
          <p:nvPr/>
        </p:nvSpPr>
        <p:spPr>
          <a:xfrm>
            <a:off x="758952" y="1417320"/>
            <a:ext cx="10673791" cy="1463040"/>
          </a:xfrm>
          <a:prstGeom prst="rect">
            <a:avLst/>
          </a:prstGeom>
          <a:noFill/>
        </p:spPr>
        <p:txBody>
          <a:bodyPr wrap="square" anchor="t" lIns="0" rIns="0" tIns="0" bIns="0">
            <a:spAutoFit/>
          </a:bodyPr>
          <a:lstStyle/>
          <a:p>
            <a:pPr algn="l">
              <a:lnSpc>
                <a:spcPct val="102000"/>
              </a:lnSpc>
            </a:pPr>
            <a:r>
              <a:rPr sz="3000" b="1">
                <a:solidFill>
                  <a:srgbClr val="E9E7E2"/>
                </a:solidFill>
                <a:latin typeface="Space Grotesk"/>
              </a:rPr>
              <a:t>DER NÄCHSTE SCHRITT IST EIN </a:t>
            </a:r>
            <a:r>
              <a:rPr sz="3000" b="1">
                <a:solidFill>
                  <a:srgbClr val="8FA9BD"/>
                </a:solidFill>
                <a:latin typeface="Space Grotesk"/>
              </a:rPr>
              <a:t>GESPRÄCH</a:t>
            </a:r>
            <a:r>
              <a:rPr sz="3000" b="1">
                <a:solidFill>
                  <a:srgbClr val="E9E7E2"/>
                </a:solidFill>
                <a:latin typeface="Space Grotesk"/>
              </a:rPr>
              <a:t>.</a:t>
            </a:r>
          </a:p>
        </p:txBody>
      </p:sp>
      <p:sp>
        <p:nvSpPr>
          <p:cNvPr id="8" name="Rounded Rectangle 7"/>
          <p:cNvSpPr/>
          <p:nvPr/>
        </p:nvSpPr>
        <p:spPr>
          <a:xfrm>
            <a:off x="758952" y="2423160"/>
            <a:ext cx="10673791" cy="2468880"/>
          </a:xfrm>
          <a:prstGeom prst="roundRect">
            <a:avLst>
              <a:gd name="adj" fmla="val 3500"/>
            </a:avLst>
          </a:prstGeom>
          <a:solidFill>
            <a:srgbClr val="14171C"/>
          </a:solidFill>
          <a:ln w="13970">
            <a:solidFill>
              <a:srgbClr val="8FA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liver-portraet.jpg"/>
          <p:cNvPicPr>
            <a:picLocks noChangeAspect="1"/>
          </p:cNvPicPr>
          <p:nvPr/>
        </p:nvPicPr>
        <p:blipFill>
          <a:blip r:embed="rId2"/>
          <a:stretch>
            <a:fillRect/>
          </a:stretch>
        </p:blipFill>
        <p:spPr>
          <a:xfrm>
            <a:off x="1216152" y="2880360"/>
            <a:ext cx="1554480" cy="1554480"/>
          </a:xfrm>
          <a:prstGeom prst="ellipse">
            <a:avLst/>
          </a:prstGeom>
          <a:ln w="19050">
            <a:solidFill>
              <a:srgbClr val="8FA9BD"/>
            </a:solidFill>
          </a:ln>
        </p:spPr>
      </p:pic>
      <p:sp>
        <p:nvSpPr>
          <p:cNvPr id="10" name="TextBox 9"/>
          <p:cNvSpPr txBox="1"/>
          <p:nvPr/>
        </p:nvSpPr>
        <p:spPr>
          <a:xfrm>
            <a:off x="3136392" y="2834640"/>
            <a:ext cx="4846320" cy="1920240"/>
          </a:xfrm>
          <a:prstGeom prst="rect">
            <a:avLst/>
          </a:prstGeom>
          <a:noFill/>
        </p:spPr>
        <p:txBody>
          <a:bodyPr wrap="square" anchor="t" lIns="0" rIns="0" tIns="0" bIns="0">
            <a:spAutoFit/>
          </a:bodyPr>
          <a:lstStyle/>
          <a:p>
            <a:pPr algn="l"/>
            <a:r>
              <a:rPr sz="1700" b="1">
                <a:solidFill>
                  <a:srgbClr val="E9E7E2"/>
                </a:solidFill>
                <a:latin typeface="Space Grotesk"/>
              </a:rPr>
              <a:t>Oliver Fieder</a:t>
            </a:r>
          </a:p>
          <a:p>
            <a:pPr algn="l">
              <a:spcBef>
                <a:spcPts val="200"/>
              </a:spcBef>
            </a:pPr>
            <a:r>
              <a:rPr sz="1100" b="0">
                <a:solidFill>
                  <a:srgbClr val="9AA0A8"/>
                </a:solidFill>
                <a:latin typeface="Space Grotesk"/>
              </a:rPr>
              <a:t>Gründer und Berater, Mainfranken Digital</a:t>
            </a:r>
          </a:p>
          <a:p>
            <a:pPr algn="l">
              <a:lnSpc>
                <a:spcPct val="125000"/>
              </a:lnSpc>
              <a:spcBef>
                <a:spcPts val="800"/>
              </a:spcBef>
            </a:pPr>
            <a:r>
              <a:rPr sz="1100" b="0">
                <a:solidFill>
                  <a:srgbClr val="A8AEB6"/>
                </a:solidFill>
                <a:latin typeface="Space Grotesk"/>
              </a:rPr>
              <a:t>Selbstständig seit dem 15. Lebensjahr, über sechs Jahre Unternehmer, seit rund drei Jahren in der Beratung, in Projekten unter anderem mit Kunden wie Siemens.</a:t>
            </a:r>
          </a:p>
        </p:txBody>
      </p:sp>
      <p:sp>
        <p:nvSpPr>
          <p:cNvPr id="11" name="TextBox 10"/>
          <p:cNvSpPr txBox="1"/>
          <p:nvPr/>
        </p:nvSpPr>
        <p:spPr>
          <a:xfrm>
            <a:off x="8140903" y="2834640"/>
            <a:ext cx="2926080" cy="1188720"/>
          </a:xfrm>
          <a:prstGeom prst="rect">
            <a:avLst/>
          </a:prstGeom>
          <a:noFill/>
        </p:spPr>
        <p:txBody>
          <a:bodyPr wrap="square" anchor="t" lIns="0" rIns="0" tIns="0" bIns="0">
            <a:spAutoFit/>
          </a:bodyPr>
          <a:lstStyle/>
          <a:p>
            <a:pPr algn="l"/>
            <a:r>
              <a:rPr sz="1400" b="1">
                <a:solidFill>
                  <a:srgbClr val="E9E7E2"/>
                </a:solidFill>
                <a:latin typeface="Space Grotesk"/>
              </a:rPr>
              <a:t>0179 213 74 76</a:t>
            </a:r>
          </a:p>
          <a:p>
            <a:pPr algn="l">
              <a:spcBef>
                <a:spcPts val="400"/>
              </a:spcBef>
            </a:pPr>
            <a:r>
              <a:rPr sz="1100" b="0">
                <a:solidFill>
                  <a:srgbClr val="A8AEB6"/>
                </a:solidFill>
                <a:latin typeface="Space Grotesk"/>
              </a:rPr>
              <a:t>oliver@mainfranken-digital.de</a:t>
            </a:r>
          </a:p>
          <a:p>
            <a:pPr algn="l">
              <a:spcBef>
                <a:spcPts val="400"/>
              </a:spcBef>
            </a:pPr>
            <a:r>
              <a:rPr sz="1100" b="0">
                <a:solidFill>
                  <a:srgbClr val="A8AEB6"/>
                </a:solidFill>
                <a:latin typeface="Space Grotesk"/>
              </a:rPr>
              <a:t>Versbacher Straße 20 · 97078 Würzburg</a:t>
            </a:r>
          </a:p>
        </p:txBody>
      </p:sp>
      <p:sp>
        <p:nvSpPr>
          <p:cNvPr id="12" name="Rounded Rectangle 11">
            <a:hlinkClick r:id="rId3"/>
          </p:cNvPr>
          <p:cNvSpPr/>
          <p:nvPr/>
        </p:nvSpPr>
        <p:spPr>
          <a:xfrm>
            <a:off x="8140903" y="4069080"/>
            <a:ext cx="3383280" cy="475488"/>
          </a:xfrm>
          <a:prstGeom prst="roundRect">
            <a:avLst>
              <a:gd name="adj" fmla="val 50000"/>
            </a:avLst>
          </a:prstGeom>
          <a:solidFill>
            <a:srgbClr val="8FA9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spc="150">
                <a:solidFill>
                  <a:srgbClr val="0D0F12"/>
                </a:solidFill>
                <a:latin typeface="Space Grotesk"/>
              </a:rPr>
              <a:t>GESPRÄCH VEREINBAREN</a:t>
            </a:r>
          </a:p>
        </p:txBody>
      </p:sp>
      <p:sp>
        <p:nvSpPr>
          <p:cNvPr id="13" name="TextBox 12"/>
          <p:cNvSpPr txBox="1"/>
          <p:nvPr/>
        </p:nvSpPr>
        <p:spPr>
          <a:xfrm>
            <a:off x="758952" y="5166360"/>
            <a:ext cx="8229600" cy="1097280"/>
          </a:xfrm>
          <a:prstGeom prst="rect">
            <a:avLst/>
          </a:prstGeom>
          <a:noFill/>
        </p:spPr>
        <p:txBody>
          <a:bodyPr wrap="square" anchor="t" lIns="0" rIns="0" tIns="0" bIns="0">
            <a:spAutoFit/>
          </a:bodyPr>
          <a:lstStyle/>
          <a:p>
            <a:pPr algn="l">
              <a:lnSpc>
                <a:spcPct val="125000"/>
              </a:lnSpc>
              <a:spcBef>
                <a:spcPts val="0"/>
              </a:spcBef>
            </a:pPr>
            <a:r>
              <a:rPr sz="1000" b="0">
                <a:solidFill>
                  <a:srgbClr val="A8AEB6"/>
                </a:solidFill>
                <a:latin typeface="Space Grotesk"/>
              </a:rPr>
              <a:t>Diese Übersicht ist unverbindlich und kostenfrei. Ein Angebot im Rechtssinne erhalten Sie nach dem Erstgespräch.</a:t>
            </a:r>
          </a:p>
        </p:txBody>
      </p:sp>
      <p:sp>
        <p:nvSpPr>
          <p:cNvPr id="14" name="TextBox 13"/>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9AA0A8"/>
                </a:solidFill>
                <a:latin typeface="Consolas"/>
              </a:rPr>
              <a:t>MAINFRANKEN DIGITAL</a:t>
            </a:r>
          </a:p>
        </p:txBody>
      </p:sp>
      <p:sp>
        <p:nvSpPr>
          <p:cNvPr id="15" name="TextBox 14"/>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9AA0A8"/>
                </a:solidFill>
                <a:latin typeface="Consolas"/>
              </a:rPr>
              <a:t>ANGEBOT ZUR ZUSAMMENARBEIT</a:t>
            </a:r>
          </a:p>
        </p:txBody>
      </p:sp>
      <p:sp>
        <p:nvSpPr>
          <p:cNvPr id="16" name="TextBox 15"/>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9AA0A8"/>
                </a:solidFill>
                <a:latin typeface="Consolas"/>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