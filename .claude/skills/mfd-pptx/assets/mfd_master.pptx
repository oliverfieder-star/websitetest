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calendly.com/oliver2004-fieder/30mi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4-buero-nac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50">
                <a:solidFill>
                  <a:srgbClr val="E9E7E2"/>
                </a:solidFill>
                <a:latin typeface="Space Grotesk"/>
              </a:rPr>
              <a:t>MAINFRANKEN </a:t>
            </a:r>
            <a:r>
              <a:rPr sz="1500" b="1" spc="150">
                <a:solidFill>
                  <a:srgbClr val="8FA9BD"/>
                </a:solidFill>
                <a:latin typeface="Space Grotesk"/>
              </a:rPr>
              <a:t>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286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260">
                <a:solidFill>
                  <a:srgbClr val="8FA9BD"/>
                </a:solidFill>
                <a:latin typeface="Consolas"/>
              </a:rPr>
              <a:t>[ANLASS, Z. B. ANGEBOT]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9748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9E7E2"/>
                </a:solidFill>
                <a:latin typeface="Space Grotesk"/>
              </a:rPr>
              <a:t>[TITEL DER </a:t>
            </a:r>
            <a:r>
              <a:rPr sz="4400" b="1">
                <a:solidFill>
                  <a:srgbClr val="8FA9BD"/>
                </a:solidFill>
                <a:latin typeface="Space Grotesk"/>
              </a:rPr>
              <a:t>SACHE</a:t>
            </a:r>
            <a:r>
              <a:rPr sz="4400" b="1">
                <a:solidFill>
                  <a:srgbClr val="E9E7E2"/>
                </a:solidFill>
                <a:latin typeface="Space Grotesk"/>
              </a:rPr>
              <a:t>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977639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[Unterzeile: ein Satz, worum es geht. Kein Schmuck, keine Floskeln.]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[DATUM]  ·  [EMPFÄNGER ODER KONTEXT]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25665.5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66029" y="66751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[SEKTION]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KLARE 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AUSSAGE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6949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[Erster Absatz im Blocksatz. Die Website spricht ruhig und konkret; Folien tun das auch. Ein Gedanke pro Folie.]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A8AEB6"/>
                </a:solidFill>
                <a:latin typeface="Space Grotesk"/>
              </a:rPr>
              <a:t>[Zweiter Absatz, falls nötig. Lieber kürzen als quetschen.]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20509.5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71185" y="667512"/>
            <a:ext cx="14493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ANGEBOT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ZWEI 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KARTEN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331720"/>
            <a:ext cx="5108295" cy="329184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3970">
            <a:solidFill>
              <a:srgbClr val="8FA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697480"/>
            <a:ext cx="1572768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FA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900" spc="200">
                <a:solidFill>
                  <a:srgbClr val="8FA9BD"/>
                </a:solidFill>
                <a:latin typeface="Consolas"/>
              </a:rPr>
              <a:t>SCHRITT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4612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7E2"/>
                </a:solidFill>
                <a:latin typeface="Space Grotesk"/>
              </a:rPr>
              <a:t>[Karte links]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794760"/>
            <a:ext cx="4376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A8AEB6"/>
                </a:solidFill>
                <a:latin typeface="Space Grotesk"/>
              </a:rPr>
              <a:t>[Drei bis vier Zeilen, was drinsteckt und was am Ende da ist.]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93776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FA9BD"/>
                </a:solidFill>
                <a:latin typeface="Space Grotesk"/>
              </a:rPr>
              <a:t>[Preis oder Kern]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331720"/>
            <a:ext cx="5108295" cy="329184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90207" y="2697480"/>
            <a:ext cx="1572768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FA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900" spc="200">
                <a:solidFill>
                  <a:srgbClr val="8FA9BD"/>
                </a:solidFill>
                <a:latin typeface="Consolas"/>
              </a:rPr>
              <a:t>SCHRITT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324612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9E7E2"/>
                </a:solidFill>
                <a:latin typeface="Space Grotesk"/>
              </a:rPr>
              <a:t>[Karte rechts]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3794760"/>
            <a:ext cx="4376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A8AEB6"/>
                </a:solidFill>
                <a:latin typeface="Space Grotesk"/>
              </a:rPr>
              <a:t>[Drei bis vier Zeilen, was drinsteckt und was am Ende da ist.]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4937760"/>
            <a:ext cx="4376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FA9BD"/>
                </a:solidFill>
                <a:latin typeface="Space Grotesk"/>
              </a:rPr>
              <a:t>[Preis oder Kern]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25665.5" y="768096"/>
            <a:ext cx="4507077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66029" y="667512"/>
            <a:ext cx="1659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FÖRDERUNG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DREI 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KENNZAHLEN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432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9E7E2"/>
                </a:solidFill>
                <a:latin typeface="Space Grotesk"/>
              </a:rPr>
              <a:t>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84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[LABEL EINS]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6882" y="27432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9E7E2"/>
                </a:solidFill>
                <a:latin typeface="Space Grotesk"/>
              </a:rPr>
              <a:t>7.500 €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6882" y="3584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[LABEL ZWEI]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812" y="274320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9E7E2"/>
                </a:solidFill>
                <a:latin typeface="Space Grotesk"/>
              </a:rPr>
              <a:t>[Wert]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812" y="3584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9AA0A8"/>
                </a:solidFill>
                <a:latin typeface="Consolas"/>
              </a:rPr>
              <a:t>[LABEL DREI]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4343400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952" y="452628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[Einordnender Satz unter den Zahlen, z. B. Quelle oder Bedingung.]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66481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767931.5" y="768096"/>
            <a:ext cx="466481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23763" y="667512"/>
            <a:ext cx="1344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ABLAUF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VIER 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SCHRITTE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33172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38328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[Schritt eins]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8620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8839" y="233172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3159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3159" y="338328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[Schritt zwei]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3159" y="388620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38328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[Schritt drei]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88620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615" y="2331720"/>
            <a:ext cx="2394127" cy="301752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2700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2935" y="2606040"/>
            <a:ext cx="1845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A9BD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2935" y="3383280"/>
            <a:ext cx="1845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[Schritt vier]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2935" y="3886200"/>
            <a:ext cx="18454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[Was passiert, in zwei Zeilen.]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454499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78243.5" y="768096"/>
            <a:ext cx="4454499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3451" y="667512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POSITIONEN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9E7E2"/>
                </a:solidFill>
                <a:latin typeface="Space Grotesk"/>
              </a:rPr>
              <a:t>LEISTUNG UND </a:t>
            </a:r>
            <a:r>
              <a:rPr sz="4000" b="1">
                <a:solidFill>
                  <a:srgbClr val="8FA9BD"/>
                </a:solidFill>
                <a:latin typeface="Space Grotesk"/>
              </a:rPr>
              <a:t>PREIS</a:t>
            </a:r>
            <a:r>
              <a:rPr sz="40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" y="2331720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249631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8FA9BD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688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[Position eins]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5303" y="24688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[0.000 €]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" y="2898648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" y="30632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8FA9BD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03580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[Position zwei]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5303" y="30358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[0.000 €]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" y="3465576"/>
            <a:ext cx="10673791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363016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00">
                <a:solidFill>
                  <a:srgbClr val="8FA9BD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60273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9E7E2"/>
                </a:solidFill>
                <a:latin typeface="Space Grotesk"/>
              </a:rPr>
              <a:t>[Position drei]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5303" y="36027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E9E7E2"/>
                </a:solidFill>
                <a:latin typeface="Space Grotesk"/>
              </a:rPr>
              <a:t>[inklusive]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4032504"/>
            <a:ext cx="10673791" cy="0"/>
          </a:xfrm>
          <a:prstGeom prst="line">
            <a:avLst/>
          </a:prstGeom>
          <a:ln w="15240">
            <a:solidFill>
              <a:srgbClr val="8FA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81912" y="4169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9E7E2"/>
                </a:solidFill>
                <a:latin typeface="Space Grotesk"/>
              </a:rPr>
              <a:t>Summe netto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5303" y="41696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8FA9BD"/>
                </a:solidFill>
                <a:latin typeface="Space Grotesk"/>
              </a:rPr>
              <a:t>[0.000 €]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09744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[Hinweiszeile: zzgl. USt, Nebenkosten, Gültigkeit.]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20509.5" y="768096"/>
            <a:ext cx="4612233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71185" y="667512"/>
            <a:ext cx="14493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KONTAKT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E9E7E2"/>
                </a:solidFill>
                <a:latin typeface="Space Grotesk"/>
              </a:rPr>
              <a:t>DER NÄCHSTE SCHRITT IST EIN </a:t>
            </a:r>
            <a:r>
              <a:rPr sz="3200" b="1">
                <a:solidFill>
                  <a:srgbClr val="8FA9BD"/>
                </a:solidFill>
                <a:latin typeface="Space Grotesk"/>
              </a:rPr>
              <a:t>GESPRÄCH</a:t>
            </a:r>
            <a:r>
              <a:rPr sz="32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514600"/>
            <a:ext cx="10673791" cy="2377440"/>
          </a:xfrm>
          <a:prstGeom prst="roundRect">
            <a:avLst>
              <a:gd name="adj" fmla="val 3500"/>
            </a:avLst>
          </a:prstGeom>
          <a:solidFill>
            <a:srgbClr val="14171C"/>
          </a:solidFill>
          <a:ln w="13970">
            <a:solidFill>
              <a:srgbClr val="8FA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liver-portra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926080"/>
            <a:ext cx="1463040" cy="1463040"/>
          </a:xfrm>
          <a:prstGeom prst="ellipse">
            <a:avLst/>
          </a:prstGeom>
          <a:ln w="19050">
            <a:solidFill>
              <a:srgbClr val="8FA9B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044952" y="297180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9E7E2"/>
                </a:solidFill>
                <a:latin typeface="Space Grotesk"/>
              </a:rPr>
              <a:t>Oliver Fieder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9AA0A8"/>
                </a:solidFill>
                <a:latin typeface="Space Grotesk"/>
              </a:rPr>
              <a:t>Gründer und Berater, Mainfranken Digital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Selbstständig seit dem 15. Lebensjahr, über sechs Jahre Unternehmer, seit rund drei Jahren in der Beratung, in Projekten unter anderem mit Kunden wie Siemens.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2343" y="297180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E7E2"/>
                </a:solidFill>
                <a:latin typeface="Space Grotesk"/>
              </a:rPr>
              <a:t>0179 213 74 76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oliver@mainfranken-digital.de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Versbacher Straße 20 · 97078 Würzburg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8232343" y="416052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8F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spc="150">
                <a:solidFill>
                  <a:srgbClr val="0D0F12"/>
                </a:solidFill>
                <a:latin typeface="Space Grotesk"/>
              </a:rPr>
              <a:t>GESPRÄCH VEREINBAREN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32743" y="717804"/>
            <a:ext cx="0" cy="100584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58952" y="7680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30821.5" y="768096"/>
            <a:ext cx="4401921.5" cy="0"/>
          </a:xfrm>
          <a:prstGeom prst="line">
            <a:avLst/>
          </a:prstGeom>
          <a:ln w="12700">
            <a:solidFill>
              <a:srgbClr val="2B2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60873" y="667512"/>
            <a:ext cx="18699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300">
                <a:solidFill>
                  <a:srgbClr val="8FA9BD"/>
                </a:solidFill>
                <a:latin typeface="Consolas"/>
              </a:rPr>
              <a:t>KONDITIONEN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1067379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E9E7E2"/>
                </a:solidFill>
                <a:latin typeface="Space Grotesk"/>
              </a:rPr>
              <a:t>KONDITIONEN UND </a:t>
            </a:r>
            <a:r>
              <a:rPr sz="2800" b="1">
                <a:solidFill>
                  <a:srgbClr val="8FA9BD"/>
                </a:solidFill>
                <a:latin typeface="Space Grotesk"/>
              </a:rPr>
              <a:t>ANNAHME</a:t>
            </a:r>
            <a:r>
              <a:rPr sz="2800" b="1">
                <a:solidFill>
                  <a:srgbClr val="E9E7E2"/>
                </a:solidFill>
                <a:latin typeface="Space Grotes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[Gültigkeit: An dieses Angebot halten wir uns bis zum TT.MM.JJJJ gebunden.]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[Zahlung: 14 Tage nach Rechnungsstellung ohne Abzug.]</a:t>
            </a:r>
          </a:p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A8AEB6"/>
                </a:solidFill>
                <a:latin typeface="Space Grotesk"/>
              </a:rPr>
              <a:t>[Weitere Bedingungen.]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57200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A8AEB6"/>
                </a:solidFill>
                <a:latin typeface="Space Grotesk"/>
              </a:rPr>
              <a:t>Fieder Handels GmbH · Versbacher Straße 20 · 97078 Würzburg · Amtsgericht Würzburg, HRB 17397 · Geschäftsführer: Oliver Fieder · USt-ID DE3370133371. „Mainfranken Digital“ ist ein Angebot der Fieder Handels GmbH.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9383" y="3474720"/>
            <a:ext cx="4023360" cy="0"/>
          </a:xfrm>
          <a:prstGeom prst="line">
            <a:avLst/>
          </a:prstGeom>
          <a:ln w="12700">
            <a:solidFill>
              <a:srgbClr val="A8AE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09383" y="35661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pace Grotesk"/>
              </a:rPr>
              <a:t>[Ort, Datum · Auftraggeber]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9383" y="4846320"/>
            <a:ext cx="4023360" cy="0"/>
          </a:xfrm>
          <a:prstGeom prst="line">
            <a:avLst/>
          </a:prstGeom>
          <a:ln w="12700">
            <a:solidFill>
              <a:srgbClr val="A8AE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9383" y="4937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pace Grotesk"/>
              </a:rPr>
              <a:t>Würzburg, [DATUM] · Fieder Handels GmbH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9AA0A8"/>
                </a:solidFill>
                <a:latin typeface="Consolas"/>
              </a:rPr>
              <a:t>MAINFRANKEN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200">
                <a:solidFill>
                  <a:srgbClr val="9AA0A8"/>
                </a:solidFill>
                <a:latin typeface="Consolas"/>
              </a:rPr>
              <a:t>FOLIENMASTER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61143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9AA0A8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