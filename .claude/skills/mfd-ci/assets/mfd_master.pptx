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[Reihe A]</c:v>
                </c:pt>
              </c:strCache>
            </c:strRef>
          </c:tx>
          <c:spPr>
            <a:solidFill>
              <a:srgbClr val="4F6E8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[Kat 1]</c:v>
                </c:pt>
                <c:pt idx="1">
                  <c:v>[Kat 2]</c:v>
                </c:pt>
                <c:pt idx="2">
                  <c:v>[Kat 3]</c:v>
                </c:pt>
                <c:pt idx="3">
                  <c:v>[Kat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5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[Reihe B]</c:v>
                </c:pt>
              </c:strCache>
            </c:strRef>
          </c:tx>
          <c:spPr>
            <a:solidFill>
              <a:srgbClr val="7A808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[Kat 1]</c:v>
                </c:pt>
                <c:pt idx="1">
                  <c:v>[Kat 2]</c:v>
                </c:pt>
                <c:pt idx="2">
                  <c:v>[Kat 3]</c:v>
                </c:pt>
                <c:pt idx="3">
                  <c:v>[Kat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7D2"/>
            </a:solidFill>
          </a:ln>
        </c:spPr>
        <c:txPr>
          <a:bodyPr/>
          <a:lstStyle/>
          <a:p>
            <a:pPr>
              <a:defRPr sz="1000">
                <a:solidFill>
                  <a:srgbClr val="4A5058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7D2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7D2"/>
            </a:solidFill>
          </a:ln>
        </c:spPr>
        <c:txPr>
          <a:bodyPr/>
          <a:lstStyle/>
          <a:p>
            <a:pPr>
              <a:defRPr sz="1000">
                <a:solidFill>
                  <a:srgbClr val="4A5058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5058"/>
              </a:solidFill>
              <a:latin typeface="Space Grotesk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calendly.com/oliver2004-fieder/30m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4-buero-nac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>
              <a:alpha val="6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50">
                <a:solidFill>
                  <a:srgbClr val="E9E7E2"/>
                </a:solidFill>
                <a:latin typeface="Space Grotesk"/>
              </a:rPr>
              <a:t>MAINFRANKEN </a:t>
            </a:r>
            <a:r>
              <a:rPr sz="1500" b="1" spc="150">
                <a:solidFill>
                  <a:srgbClr val="8FA9BD"/>
                </a:solidFill>
                <a:latin typeface="Space Grotesk"/>
              </a:rPr>
              <a:t>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286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260">
                <a:solidFill>
                  <a:srgbClr val="8FA9BD"/>
                </a:solidFill>
                <a:latin typeface="Consolas"/>
              </a:rPr>
              <a:t>[ANLASS, Z. B. ERGEBNISVORSTELLUNG]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9748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9E7E2"/>
                </a:solidFill>
                <a:latin typeface="Space Grotesk"/>
              </a:rPr>
              <a:t>[TITEL DER </a:t>
            </a:r>
            <a:r>
              <a:rPr sz="4400" b="1">
                <a:solidFill>
                  <a:srgbClr val="8FA9BD"/>
                </a:solidFill>
                <a:latin typeface="Space Grotesk"/>
              </a:rPr>
              <a:t>SACHE</a:t>
            </a:r>
            <a:r>
              <a:rPr sz="4400" b="1">
                <a:solidFill>
                  <a:srgbClr val="E9E7E2"/>
                </a:solidFill>
                <a:latin typeface="Space Grotesk"/>
              </a:rPr>
              <a:t>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977639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A8AEB6"/>
                </a:solidFill>
                <a:latin typeface="Space Grotesk"/>
              </a:rPr>
              <a:t>[Unterzeile: ein Satz, worum es geht.]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9AA0A8"/>
                </a:solidFill>
                <a:latin typeface="Consolas"/>
              </a:rPr>
              <a:t>[DATUM]  ·  [BETRIEB / EMPFÄNGER]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664811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767931.5" y="722376"/>
            <a:ext cx="4664811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423763" y="621792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WORÜBER WIR HEUTE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SPRECHEN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" y="2377440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58952" y="250545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6E88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48716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71C"/>
                </a:solidFill>
                <a:latin typeface="Space Grotesk"/>
              </a:rPr>
              <a:t>[Erster Punkt]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" y="3035808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758952" y="316382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6E88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3145536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71C"/>
                </a:solidFill>
                <a:latin typeface="Space Grotesk"/>
              </a:rPr>
              <a:t>[Zweiter Punkt]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3694176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58952" y="382219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6E88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380390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71C"/>
                </a:solidFill>
                <a:latin typeface="Space Grotesk"/>
              </a:rPr>
              <a:t>[Dritter Punkt]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4352544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58952" y="4480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6E88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446227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71C"/>
                </a:solidFill>
                <a:latin typeface="Space Grotesk"/>
              </a:rPr>
              <a:t>[Vierter Punkt]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5010912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58952" y="513892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6E88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5120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71C"/>
                </a:solidFill>
                <a:latin typeface="Space Grotesk"/>
              </a:rPr>
              <a:t>[Fünfter Punkt]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5669280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19659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8FA9BD"/>
                </a:solidFill>
                <a:latin typeface="Consolas"/>
              </a:rPr>
              <a:t>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58952" y="36896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11432743" y="36896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758952" y="3739896"/>
            <a:ext cx="4401921.5" cy="0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7030821.5" y="3739896"/>
            <a:ext cx="4401921.5" cy="0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160873" y="3639312"/>
            <a:ext cx="18699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[ABSCHNITT]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06908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9E7E2"/>
                </a:solidFill>
                <a:latin typeface="Space Grotesk"/>
              </a:rPr>
              <a:t>[TITEL DES </a:t>
            </a:r>
            <a:r>
              <a:rPr sz="3400" b="1">
                <a:solidFill>
                  <a:srgbClr val="8FA9BD"/>
                </a:solidFill>
                <a:latin typeface="Space Grotesk"/>
              </a:rPr>
              <a:t>ABSCHNITTS</a:t>
            </a:r>
            <a:r>
              <a:rPr sz="3400" b="1">
                <a:solidFill>
                  <a:srgbClr val="E9E7E2"/>
                </a:solidFill>
                <a:latin typeface="Space Grotesk"/>
              </a:rPr>
              <a:t>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25665.5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66029" y="62179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[SEKTION]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EINE KLARE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AUSSAGE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8595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4A5058"/>
                </a:solidFill>
                <a:latin typeface="Space Grotesk"/>
              </a:rPr>
              <a:t>[Erster Absatz im Blocksatz. Ein Gedanke pro Folie; die Headline trägt die Botschaft, der Text belegt sie.]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4A5058"/>
                </a:solidFill>
                <a:latin typeface="Space Grotesk"/>
              </a:rPr>
              <a:t>[Zweiter Absatz, falls nötig. Lieber kürzen als quetschen.]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25665.5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66029" y="62179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[SEKTION]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TEXT UND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AUFZÄHLUNG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4A5058"/>
                </a:solidFill>
                <a:latin typeface="Space Grotesk"/>
              </a:rPr>
              <a:t>[Einleitender Absatz: worum geht es, warum ist es relevant.]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23317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300" b="1">
                <a:solidFill>
                  <a:srgbClr val="14171C"/>
                </a:solidFill>
                <a:latin typeface="Space Grotesk"/>
              </a:rPr>
              <a:t>[Titel eins]: </a:t>
            </a:r>
            <a:r>
              <a:rPr sz="1300" b="0">
                <a:solidFill>
                  <a:srgbClr val="4A5058"/>
                </a:solidFill>
                <a:latin typeface="Space Grotesk"/>
              </a:rPr>
              <a:t>[Beleg oder Detail in einem Satz.]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300" b="1">
                <a:solidFill>
                  <a:srgbClr val="14171C"/>
                </a:solidFill>
                <a:latin typeface="Space Grotesk"/>
              </a:rPr>
              <a:t>[Titel zwei]: </a:t>
            </a:r>
            <a:r>
              <a:rPr sz="1300" b="0">
                <a:solidFill>
                  <a:srgbClr val="4A5058"/>
                </a:solidFill>
                <a:latin typeface="Space Grotesk"/>
              </a:rPr>
              <a:t>[Beleg oder Detail in einem Satz.]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300" b="1">
                <a:solidFill>
                  <a:srgbClr val="14171C"/>
                </a:solidFill>
                <a:latin typeface="Space Grotesk"/>
              </a:rPr>
              <a:t>[Titel drei]: </a:t>
            </a:r>
            <a:r>
              <a:rPr sz="1300" b="0">
                <a:solidFill>
                  <a:srgbClr val="4A5058"/>
                </a:solidFill>
                <a:latin typeface="Space Grotesk"/>
              </a:rPr>
              <a:t>[Beleg oder Detail in einem Satz.]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300" b="1">
                <a:solidFill>
                  <a:srgbClr val="14171C"/>
                </a:solidFill>
                <a:latin typeface="Space Grotesk"/>
              </a:rPr>
              <a:t>[Titel vier]: </a:t>
            </a:r>
            <a:r>
              <a:rPr sz="1300" b="0">
                <a:solidFill>
                  <a:srgbClr val="4A5058"/>
                </a:solidFill>
                <a:latin typeface="Space Grotesk"/>
              </a:rPr>
              <a:t>[Beleg oder Detail in einem Satz.]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25665.5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66029" y="62179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VERGLEICH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HEUTE GEGEN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MORGEN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240280"/>
            <a:ext cx="5108295" cy="338328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560320"/>
            <a:ext cx="1335024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F6E88"/>
            </a:solidFill>
          </a:ln>
          <a:effectLst/>
        </p:spPr>
        <p:txBody>
          <a:bodyPr rtlCol="0" anchor="ctr" lIns="45720" rIns="45720" tIns="0" bIns="0" wrap="none"/>
          <a:lstStyle/>
          <a:p>
            <a:pPr algn="ctr"/>
            <a:r>
              <a:rPr sz="900" spc="200">
                <a:solidFill>
                  <a:srgbClr val="4F6E88"/>
                </a:solidFill>
                <a:latin typeface="Consolas"/>
              </a:rPr>
              <a:t>[HEUTE]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200400"/>
            <a:ext cx="4376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250" b="0">
                <a:solidFill>
                  <a:srgbClr val="4A5058"/>
                </a:solidFill>
                <a:latin typeface="Space Grotesk"/>
              </a:rPr>
              <a:t>[Ist-Zustand eins]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5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250" b="0">
                <a:solidFill>
                  <a:srgbClr val="4A5058"/>
                </a:solidFill>
                <a:latin typeface="Space Grotesk"/>
              </a:rPr>
              <a:t>[Ist-Zustand zwei]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5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250" b="0">
                <a:solidFill>
                  <a:srgbClr val="4A5058"/>
                </a:solidFill>
                <a:latin typeface="Space Grotesk"/>
              </a:rPr>
              <a:t>[Ist-Zustand drei]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240280"/>
            <a:ext cx="5108295" cy="338328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3970">
            <a:solidFill>
              <a:srgbClr val="4F6E8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90207" y="2560320"/>
            <a:ext cx="1453896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F6E88"/>
            </a:solidFill>
          </a:ln>
          <a:effectLst/>
        </p:spPr>
        <p:txBody>
          <a:bodyPr rtlCol="0" anchor="ctr" lIns="45720" rIns="45720" tIns="0" bIns="0" wrap="none"/>
          <a:lstStyle/>
          <a:p>
            <a:pPr algn="ctr"/>
            <a:r>
              <a:rPr sz="900" spc="200">
                <a:solidFill>
                  <a:srgbClr val="4F6E88"/>
                </a:solidFill>
                <a:latin typeface="Consolas"/>
              </a:rPr>
              <a:t>[MORGEN]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3200400"/>
            <a:ext cx="4376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250" b="0">
                <a:solidFill>
                  <a:srgbClr val="4A5058"/>
                </a:solidFill>
                <a:latin typeface="Space Grotesk"/>
              </a:rPr>
              <a:t>[Ziel-Zustand eins]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5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250" b="0">
                <a:solidFill>
                  <a:srgbClr val="4A5058"/>
                </a:solidFill>
                <a:latin typeface="Space Grotesk"/>
              </a:rPr>
              <a:t>[Ziel-Zustand zwei]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50" b="0">
                <a:solidFill>
                  <a:srgbClr val="4F6E88"/>
                </a:solidFill>
                <a:latin typeface="Space Grotesk"/>
              </a:rPr>
              <a:t>▪  </a:t>
            </a:r>
            <a:r>
              <a:rPr sz="1250" b="0">
                <a:solidFill>
                  <a:srgbClr val="4A5058"/>
                </a:solidFill>
                <a:latin typeface="Space Grotesk"/>
              </a:rPr>
              <a:t>[Ziel-Zustand drei]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25665.5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66029" y="62179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[SEKTION]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DREI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KARTEN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240280"/>
            <a:ext cx="3314090" cy="310896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26740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71C"/>
                </a:solidFill>
                <a:latin typeface="Space Grotesk"/>
              </a:rPr>
              <a:t>[Karte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08960"/>
            <a:ext cx="267401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4A5058"/>
                </a:solidFill>
                <a:latin typeface="Space Grotesk"/>
              </a:rPr>
              <a:t>[Drei bis vier Zeilen Inhalt. Karten tragen gleichrangige Punkte; für Rangfolge Nummern ergänzen.]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8802" y="2240280"/>
            <a:ext cx="3314090" cy="310896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8842" y="2560320"/>
            <a:ext cx="26740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71C"/>
                </a:solidFill>
                <a:latin typeface="Space Grotesk"/>
              </a:rPr>
              <a:t>[Karte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842" y="3108960"/>
            <a:ext cx="267401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4A5058"/>
                </a:solidFill>
                <a:latin typeface="Space Grotesk"/>
              </a:rPr>
              <a:t>[Drei bis vier Zeilen Inhalt. Karten tragen gleichrangige Punkte; für Rangfolge Nummern ergänzen.]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8652" y="2240280"/>
            <a:ext cx="3314090" cy="310896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8692" y="2560320"/>
            <a:ext cx="26740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71C"/>
                </a:solidFill>
                <a:latin typeface="Space Grotesk"/>
              </a:rPr>
              <a:t>[Karte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8692" y="3108960"/>
            <a:ext cx="267401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4A5058"/>
                </a:solidFill>
                <a:latin typeface="Space Grotesk"/>
              </a:rPr>
              <a:t>[Drei bis vier Zeilen Inhalt. Karten tragen gleichrangige Punkte; für Rangfolge Nummern ergänzen.]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664811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767931.5" y="722376"/>
            <a:ext cx="4664811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423763" y="621792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ABLAUF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VIER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SCHRITTE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24028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1460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4F6E88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29184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171C"/>
                </a:solidFill>
                <a:latin typeface="Space Grotesk"/>
              </a:rPr>
              <a:t>[Schritt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79476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4A5058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8839" y="224028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3159" y="251460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4F6E88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3159" y="329184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171C"/>
                </a:solidFill>
                <a:latin typeface="Space Grotesk"/>
              </a:rPr>
              <a:t>[Schritt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3159" y="379476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4A5058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24028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51460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4F6E88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29184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171C"/>
                </a:solidFill>
                <a:latin typeface="Space Grotesk"/>
              </a:rPr>
              <a:t>[Schritt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79476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4A5058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615" y="224028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2935" y="251460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4F6E88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2935" y="329184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171C"/>
                </a:solidFill>
                <a:latin typeface="Space Grotesk"/>
              </a:rPr>
              <a:t>[Schritt 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2935" y="379476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4A5058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559655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873087.5" y="722376"/>
            <a:ext cx="4559655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18607" y="621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ZEITPLAN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SO SIEHT DER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FAHRPLAN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 AUS.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" y="3291840"/>
            <a:ext cx="10673791" cy="0"/>
          </a:xfrm>
          <a:prstGeom prst="line">
            <a:avLst/>
          </a:prstGeom>
          <a:ln w="17780">
            <a:solidFill>
              <a:srgbClr val="D9D7D2"/>
            </a:solidFill>
          </a:ln>
          <a:effectLst/>
        </p:spPr>
      </p:cxnSp>
      <p:sp>
        <p:nvSpPr>
          <p:cNvPr id="9" name="Oval 8"/>
          <p:cNvSpPr/>
          <p:nvPr/>
        </p:nvSpPr>
        <p:spPr>
          <a:xfrm>
            <a:off x="758952" y="3227832"/>
            <a:ext cx="128016" cy="128016"/>
          </a:xfrm>
          <a:prstGeom prst="ellipse">
            <a:avLst/>
          </a:prstGeom>
          <a:solidFill>
            <a:srgbClr val="4F6E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880360"/>
            <a:ext cx="2485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4F6E88"/>
                </a:solidFill>
                <a:latin typeface="Consolas"/>
              </a:rPr>
              <a:t>[KW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493008"/>
            <a:ext cx="2439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[Phase eins]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858768"/>
            <a:ext cx="23941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[Was passiert.]</a:t>
            </a:r>
          </a:p>
        </p:txBody>
      </p:sp>
      <p:sp>
        <p:nvSpPr>
          <p:cNvPr id="13" name="Oval 12"/>
          <p:cNvSpPr/>
          <p:nvPr/>
        </p:nvSpPr>
        <p:spPr>
          <a:xfrm>
            <a:off x="3427399" y="3227832"/>
            <a:ext cx="128016" cy="128016"/>
          </a:xfrm>
          <a:prstGeom prst="ellipse">
            <a:avLst/>
          </a:prstGeom>
          <a:solidFill>
            <a:srgbClr val="4F6E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2880360"/>
            <a:ext cx="2485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4F6E88"/>
                </a:solidFill>
                <a:latin typeface="Consolas"/>
              </a:rPr>
              <a:t>[KW 2-3]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2263" y="3493008"/>
            <a:ext cx="2439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[Phase zwei]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2263" y="3858768"/>
            <a:ext cx="23941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[Was passiert.]</a:t>
            </a:r>
          </a:p>
        </p:txBody>
      </p:sp>
      <p:sp>
        <p:nvSpPr>
          <p:cNvPr id="17" name="Oval 16"/>
          <p:cNvSpPr/>
          <p:nvPr/>
        </p:nvSpPr>
        <p:spPr>
          <a:xfrm>
            <a:off x="6095847" y="3227832"/>
            <a:ext cx="128016" cy="128016"/>
          </a:xfrm>
          <a:prstGeom prst="ellipse">
            <a:avLst/>
          </a:prstGeom>
          <a:solidFill>
            <a:srgbClr val="4F6E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0711" y="2880360"/>
            <a:ext cx="2485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4F6E88"/>
                </a:solidFill>
                <a:latin typeface="Consolas"/>
              </a:rPr>
              <a:t>[KW 4-6]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3493008"/>
            <a:ext cx="2439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[Phase drei]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0711" y="3858768"/>
            <a:ext cx="23941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[Was passiert.]</a:t>
            </a:r>
          </a:p>
        </p:txBody>
      </p:sp>
      <p:sp>
        <p:nvSpPr>
          <p:cNvPr id="21" name="Oval 20"/>
          <p:cNvSpPr/>
          <p:nvPr/>
        </p:nvSpPr>
        <p:spPr>
          <a:xfrm>
            <a:off x="8764295" y="3227832"/>
            <a:ext cx="128016" cy="128016"/>
          </a:xfrm>
          <a:prstGeom prst="ellipse">
            <a:avLst/>
          </a:prstGeom>
          <a:solidFill>
            <a:srgbClr val="4F6E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159" y="2880360"/>
            <a:ext cx="24855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4F6E88"/>
                </a:solidFill>
                <a:latin typeface="Consolas"/>
              </a:rPr>
              <a:t>[AB KW 7]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9159" y="3493008"/>
            <a:ext cx="2439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[Phase vier]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9159" y="3858768"/>
            <a:ext cx="23941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[Was passiert.]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664811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767931.5" y="722376"/>
            <a:ext cx="4664811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423763" y="621792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ZAHLEN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DREI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KENNZAHLEN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4171C"/>
                </a:solidFill>
                <a:latin typeface="Space Grotesk"/>
              </a:rPr>
              <a:t>[50 %]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758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7A8088"/>
                </a:solidFill>
                <a:latin typeface="Consolas"/>
              </a:rPr>
              <a:t>[LABEL EINS]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6882" y="283464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4171C"/>
                </a:solidFill>
                <a:latin typeface="Space Grotesk"/>
              </a:rPr>
              <a:t>[7.500 €]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6882" y="36758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7A8088"/>
                </a:solidFill>
                <a:latin typeface="Consolas"/>
              </a:rPr>
              <a:t>[LABEL ZWEI]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812" y="283464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4171C"/>
                </a:solidFill>
                <a:latin typeface="Space Grotesk"/>
              </a:rPr>
              <a:t>[Wert]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812" y="36758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7A8088"/>
                </a:solidFill>
                <a:latin typeface="Consolas"/>
              </a:rPr>
              <a:t>[LABEL DREI]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4480560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58952" y="466344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4A5058"/>
                </a:solidFill>
                <a:latin typeface="Space Grotesk"/>
              </a:rPr>
              <a:t>[Einordnender Satz: Quelle, Zeitraum oder Bedingung.]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454499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78243.5" y="722376"/>
            <a:ext cx="4454499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13451" y="62179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AUSWERTUNG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EIN BILD SAGT MEHR ALS EINE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TABELLE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952" y="2240280"/>
          <a:ext cx="7498079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14231" y="2606040"/>
            <a:ext cx="2697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4A5058"/>
                </a:solidFill>
                <a:latin typeface="Space Grotesk"/>
              </a:rPr>
              <a:t>[Kernaussage des Diagramms in zwei, drei Zeilen. Das Diagramm ist nativ und lässt sich in PowerPoint samt Daten bearbeiten.]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25665.5" y="722376"/>
            <a:ext cx="4507077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66029" y="62179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ÜBERSICHT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SAUBER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AUFGEREIHT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2668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7A8088"/>
                </a:solidFill>
                <a:latin typeface="Consolas"/>
              </a:rPr>
              <a:t>[SPALTE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7399" y="2331720"/>
            <a:ext cx="2668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7A8088"/>
                </a:solidFill>
                <a:latin typeface="Consolas"/>
              </a:rPr>
              <a:t>[SPALTE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331720"/>
            <a:ext cx="2668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7A8088"/>
                </a:solidFill>
                <a:latin typeface="Consolas"/>
              </a:rPr>
              <a:t>[SPALTE 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4295" y="2331720"/>
            <a:ext cx="2668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180">
                <a:solidFill>
                  <a:srgbClr val="7A8088"/>
                </a:solidFill>
                <a:latin typeface="Consolas"/>
              </a:rPr>
              <a:t>[SPALTE 4]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" y="2642616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58952" y="2734056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71C"/>
                </a:solidFill>
                <a:latin typeface="Space Grotesk"/>
              </a:rPr>
              <a:t>[Zeile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2734056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734056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4295" y="2734056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63240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58952" y="3154680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71C"/>
                </a:solidFill>
                <a:latin typeface="Space Grotesk"/>
              </a:rPr>
              <a:t>[Zeile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7399" y="3154680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3154680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4295" y="3154680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" y="3483864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758952" y="3575304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71C"/>
                </a:solidFill>
                <a:latin typeface="Space Grotesk"/>
              </a:rPr>
              <a:t>[Zeile 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7399" y="3575304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3575304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4295" y="3575304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952" y="3904488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758952" y="3995928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71C"/>
                </a:solidFill>
                <a:latin typeface="Space Grotesk"/>
              </a:rPr>
              <a:t>[Zeile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7399" y="3995928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5847" y="3995928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4295" y="3995928"/>
            <a:ext cx="26684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4A5058"/>
                </a:solidFill>
                <a:latin typeface="Space Grotesk"/>
              </a:rPr>
              <a:t>[Wert]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" y="4325112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90472" y="1600200"/>
            <a:ext cx="92107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8FA9BD"/>
                </a:solidFill>
                <a:latin typeface="Space Grotesk"/>
              </a:rPr>
              <a:t>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0472" y="2377440"/>
            <a:ext cx="92107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9E7E2"/>
                </a:solidFill>
                <a:latin typeface="Space Grotesk"/>
              </a:rPr>
              <a:t>[Die eine Kernbotschaft, die hängen bleiben soll.]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0472" y="4297680"/>
            <a:ext cx="9210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200">
                <a:solidFill>
                  <a:srgbClr val="9AA0A8"/>
                </a:solidFill>
                <a:latin typeface="Consolas"/>
              </a:rPr>
              <a:t>[QUELLE ODER EINORDNUNG]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454499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78243.5" y="722376"/>
            <a:ext cx="4454499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13451" y="62179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EINORDNUNG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VIER FELDER, EIN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BILD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6152" y="2240280"/>
            <a:ext cx="4270248" cy="1709928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2468880"/>
            <a:ext cx="3721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[Oben links]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862072"/>
            <a:ext cx="3721608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[Kurztext.]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2240280"/>
            <a:ext cx="4270248" cy="1709928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2468880"/>
            <a:ext cx="3721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[Oben rechts]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2862072"/>
            <a:ext cx="3721608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[Kurztext.]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" y="4096512"/>
            <a:ext cx="4270248" cy="1709928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0472" y="4325112"/>
            <a:ext cx="3721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[Unten links]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4718304"/>
            <a:ext cx="3721608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[Kurztext.]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2704" y="4096512"/>
            <a:ext cx="4270248" cy="1709928"/>
          </a:xfrm>
          <a:prstGeom prst="roundRect">
            <a:avLst>
              <a:gd name="adj" fmla="val 3500"/>
            </a:avLst>
          </a:prstGeom>
          <a:solidFill>
            <a:srgbClr val="FCFBF9"/>
          </a:solidFill>
          <a:ln w="12700">
            <a:solidFill>
              <a:srgbClr val="D9D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7024" y="4325112"/>
            <a:ext cx="3721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71C"/>
                </a:solidFill>
                <a:latin typeface="Space Grotesk"/>
              </a:rPr>
              <a:t>[Unten rechts]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4718304"/>
            <a:ext cx="3721608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4A5058"/>
                </a:solidFill>
                <a:latin typeface="Space Grotesk"/>
              </a:rPr>
              <a:t>[Kurztext.]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591616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7A8088"/>
                </a:solidFill>
                <a:latin typeface="Consolas"/>
              </a:rPr>
              <a:t>[WENIG AUFWAND]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591616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7A8088"/>
                </a:solidFill>
                <a:latin typeface="Consolas"/>
              </a:rPr>
              <a:t>[VIEL AUFWAND]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672084"/>
            <a:ext cx="0" cy="100584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22376"/>
            <a:ext cx="4454499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978243.5" y="722376"/>
            <a:ext cx="4454499.5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213451" y="62179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4F6E88"/>
                </a:solidFill>
                <a:latin typeface="Consolas"/>
              </a:rPr>
              <a:t>POSITIONEN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28016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4171C"/>
                </a:solidFill>
                <a:latin typeface="Space Grotesk"/>
              </a:rPr>
              <a:t>LEISTUNG UND </a:t>
            </a:r>
            <a:r>
              <a:rPr sz="3000" b="1">
                <a:solidFill>
                  <a:srgbClr val="4F6E88"/>
                </a:solidFill>
                <a:latin typeface="Space Grotesk"/>
              </a:rPr>
              <a:t>PREIS</a:t>
            </a:r>
            <a:r>
              <a:rPr sz="3000" b="1">
                <a:solidFill>
                  <a:srgbClr val="14171C"/>
                </a:solidFill>
                <a:latin typeface="Space Grotesk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" y="2331720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58952" y="249631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4F6E88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688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71C"/>
                </a:solidFill>
                <a:latin typeface="Space Grotesk"/>
              </a:rPr>
              <a:t>[Position eins]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5303" y="24688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71C"/>
                </a:solidFill>
                <a:latin typeface="Space Grotesk"/>
              </a:rPr>
              <a:t>[0.000 €]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" y="2898648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58952" y="30632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4F6E88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03580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71C"/>
                </a:solidFill>
                <a:latin typeface="Space Grotesk"/>
              </a:rPr>
              <a:t>[Position zwei]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5303" y="30358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71C"/>
                </a:solidFill>
                <a:latin typeface="Space Grotesk"/>
              </a:rPr>
              <a:t>[0.000 €]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" y="3465576"/>
            <a:ext cx="10673791" cy="0"/>
          </a:xfrm>
          <a:prstGeom prst="line">
            <a:avLst/>
          </a:prstGeom>
          <a:ln w="12700">
            <a:solidFill>
              <a:srgbClr val="D9D7D2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758952" y="363016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4F6E88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60273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71C"/>
                </a:solidFill>
                <a:latin typeface="Space Grotesk"/>
              </a:rPr>
              <a:t>[Position drei]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5303" y="36027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14171C"/>
                </a:solidFill>
                <a:latin typeface="Space Grotesk"/>
              </a:rPr>
              <a:t>[inklusive]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4032504"/>
            <a:ext cx="10673791" cy="0"/>
          </a:xfrm>
          <a:prstGeom prst="line">
            <a:avLst/>
          </a:prstGeom>
          <a:ln w="15240">
            <a:solidFill>
              <a:srgbClr val="4F6E88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581912" y="41696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4171C"/>
                </a:solidFill>
                <a:latin typeface="Space Grotesk"/>
              </a:rPr>
              <a:t>Summe netto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5303" y="41696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4F6E88"/>
                </a:solidFill>
                <a:latin typeface="Space Grotesk"/>
              </a:rPr>
              <a:t>[0.000 €]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809744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4A5058"/>
                </a:solidFill>
                <a:latin typeface="Space Grotesk"/>
              </a:rPr>
              <a:t>[Hinweiszeile: zzgl. USt, Nebenkosten, Gültigkeit.]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8088"/>
                </a:solidFill>
                <a:latin typeface="Consolas"/>
              </a:rPr>
              <a:t>MAINFRANKEN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7A8088"/>
                </a:solidFill>
                <a:latin typeface="Consolas"/>
              </a:rPr>
              <a:t>FOLIENMASTER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8088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758952" y="768096"/>
            <a:ext cx="4612233.5" cy="0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820509.5" y="768096"/>
            <a:ext cx="4612233.5" cy="0"/>
          </a:xfrm>
          <a:prstGeom prst="line">
            <a:avLst/>
          </a:prstGeom>
          <a:ln w="12700">
            <a:solidFill>
              <a:srgbClr val="2B2F36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71185" y="667512"/>
            <a:ext cx="14493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KONTAKT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E9E7E2"/>
                </a:solidFill>
                <a:latin typeface="Space Grotesk"/>
              </a:rPr>
              <a:t>DER NÄCHSTE SCHRITT IST EIN </a:t>
            </a:r>
            <a:r>
              <a:rPr sz="3200" b="1">
                <a:solidFill>
                  <a:srgbClr val="8FA9BD"/>
                </a:solidFill>
                <a:latin typeface="Space Grotesk"/>
              </a:rPr>
              <a:t>GESPRÄCH</a:t>
            </a:r>
            <a:r>
              <a:rPr sz="32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514600"/>
            <a:ext cx="10673791" cy="237744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3970">
            <a:solidFill>
              <a:srgbClr val="8FA9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oliver-portra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926080"/>
            <a:ext cx="1463040" cy="1463040"/>
          </a:xfrm>
          <a:prstGeom prst="ellipse">
            <a:avLst/>
          </a:prstGeom>
          <a:ln w="19050">
            <a:solidFill>
              <a:srgbClr val="8FA9B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044952" y="297180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9E7E2"/>
                </a:solidFill>
                <a:latin typeface="Space Grotesk"/>
              </a:rPr>
              <a:t>Oliver Fieder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0A8"/>
                </a:solidFill>
                <a:latin typeface="Space Grotesk"/>
              </a:rPr>
              <a:t>Gründer und Berater, Mainfranken Digital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Selbstständig seit dem 15. Lebensjahr, über sechs Jahre Unternehmer, seit rund drei Jahren in der Beratung, in Projekten unter anderem mit Kunden wie Siemens.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2343" y="297180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E7E2"/>
                </a:solidFill>
                <a:latin typeface="Space Grotesk"/>
              </a:rPr>
              <a:t>0179 213 74 76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oliver@mainfranken-digital.de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Versbacher Straße 20 · 97078 Würzburg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8232343" y="4160520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8FA9B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  <a:r>
              <a:rPr sz="1200" b="1" spc="150">
                <a:solidFill>
                  <a:srgbClr val="0D0F12"/>
                </a:solidFill>
                <a:latin typeface="Space Grotesk"/>
              </a:rPr>
              <a:t>GESPRÄCH VEREINBAREN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